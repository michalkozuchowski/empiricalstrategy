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 of daily arrivals</c:v>
                </c:pt>
              </c:strCache>
            </c:strRef>
          </c:tx>
          <c:spPr>
            <a:solidFill>
              <a:srgbClr val="2A78D6"/>
            </a:solidFill>
          </c:spPr>
          <c:dPt>
            <c:idx val="18"/>
            <c:spPr>
              <a:solidFill>
                <a:srgbClr val="EB6834"/>
              </a:solidFill>
            </c:spPr>
          </c:dPt>
          <c:dLbls>
            <c:dLbl>
              <c:idx val="18"/>
              <c:tx>
                <c:rich>
                  <a:bodyPr/>
                  <a:lstStyle/>
                  <a:p>
                    <a:r>
                      <a:rPr sz="1200" b="1">
                        <a:solidFill>
                          <a:srgbClr val="EB6834"/>
                        </a:solidFill>
                        <a:latin typeface="Calibri"/>
                      </a:rPr>
                      <a:t>6pm: 6.3%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Sheet1!$A$2:$A$25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Sheet1!$B$2:$B$25</c:f>
              <c:numCache>
                <c:formatCode>General</c:formatCode>
                <c:ptCount val="24"/>
                <c:pt idx="0">
                  <c:v>2.2</c:v>
                </c:pt>
                <c:pt idx="1">
                  <c:v>1.83</c:v>
                </c:pt>
                <c:pt idx="2">
                  <c:v>1.62</c:v>
                </c:pt>
                <c:pt idx="3">
                  <c:v>1.42</c:v>
                </c:pt>
                <c:pt idx="4">
                  <c:v>1.36</c:v>
                </c:pt>
                <c:pt idx="5">
                  <c:v>1.34</c:v>
                </c:pt>
                <c:pt idx="6">
                  <c:v>1.76</c:v>
                </c:pt>
                <c:pt idx="7">
                  <c:v>2.64</c:v>
                </c:pt>
                <c:pt idx="8">
                  <c:v>3.59</c:v>
                </c:pt>
                <c:pt idx="9">
                  <c:v>5.06</c:v>
                </c:pt>
                <c:pt idx="10">
                  <c:v>6.05</c:v>
                </c:pt>
                <c:pt idx="11">
                  <c:v>5.75</c:v>
                </c:pt>
                <c:pt idx="12">
                  <c:v>6.08</c:v>
                </c:pt>
                <c:pt idx="13">
                  <c:v>5.66</c:v>
                </c:pt>
                <c:pt idx="14">
                  <c:v>5.8</c:v>
                </c:pt>
                <c:pt idx="15">
                  <c:v>5.61</c:v>
                </c:pt>
                <c:pt idx="16">
                  <c:v>5.65</c:v>
                </c:pt>
                <c:pt idx="17">
                  <c:v>5.77</c:v>
                </c:pt>
                <c:pt idx="18">
                  <c:v>6.34</c:v>
                </c:pt>
                <c:pt idx="19">
                  <c:v>5.9</c:v>
                </c:pt>
                <c:pt idx="20">
                  <c:v>5.46</c:v>
                </c:pt>
                <c:pt idx="21">
                  <c:v>5.0</c:v>
                </c:pt>
                <c:pt idx="22">
                  <c:v>4.64</c:v>
                </c:pt>
                <c:pt idx="23">
                  <c:v>3.46</c:v>
                </c:pt>
              </c:numCache>
            </c:numRef>
          </c:val>
        </c:ser>
        <c:gapWidth val="40"/>
        <c:axId val="-2068027336"/>
        <c:axId val="-2113994440"/>
      </c:barChart>
      <c:catAx>
        <c:axId val="-2068027336"/>
        <c:scaling>
          <c:orientation val="minMax"/>
        </c:scaling>
        <c:delete val="0"/>
        <c:axPos val="b"/>
        <c:title>
          <c:tx>
            <c:rich>
              <a:bodyPr/>
              <a:lstStyle/>
              <a:p>
                <a:r>
                  <a:rPr sz="1100" b="0">
                    <a:solidFill>
                      <a:srgbClr val="5A5F66"/>
                    </a:solidFill>
                    <a:latin typeface="Calibri"/>
                  </a:rPr>
                  <a:t>Arrival hour (0 = midnight)</a:t>
                </a:r>
              </a:p>
            </c:rich>
          </c:tx>
          <c:layout/>
          <c:overlay val="0"/>
        </c:title>
        <c:majorTickMark val="out"/>
        <c:minorTickMark val="none"/>
        <c:tickLblPos val="nextTo"/>
        <c:spPr>
          <a:ln>
            <a:solidFill>
              <a:srgbClr val="BBBBBB"/>
            </a:solidFill>
          </a:ln>
        </c:spPr>
        <c:crossAx val="-2113994440"/>
        <c:crosses val="autoZero"/>
        <c:auto val="1"/>
        <c:lblAlgn val="ctr"/>
        <c:lblOffset val="100"/>
        <c:noMultiLvlLbl val="0"/>
      </c:catAx>
      <c:valAx>
        <c:axId val="-2113994440"/>
        <c:scaling>
          <c:max val="7.5"/>
          <c:min val="0.0"/>
        </c:scaling>
        <c:delete val="0"/>
        <c:axPos val="l"/>
        <c:majorGridlines>
          <c:spPr>
            <a:ln>
              <a:solidFill>
                <a:srgbClr val="E3E3E0"/>
              </a:solidFill>
            </a:ln>
          </c:spPr>
        </c:majorGridlines>
        <c:numFmt formatCode="0&quot;%&quot;" sourceLinked="0"/>
        <c:majorTickMark val="out"/>
        <c:minorTickMark val="none"/>
        <c:tickLblPos val="nextTo"/>
        <c:spPr>
          <a:ln>
            <a:noFill/>
          </a:ln>
        </c:spPr>
        <c:crossAx val="-2068027336"/>
        <c:crosses val="autoZero"/>
      </c:valAx>
    </c:plotArea>
    <c:dispBlanksAs val="gap"/>
  </c:chart>
  <c:txPr>
    <a:bodyPr/>
    <a:lstStyle/>
    <a:p>
      <a:pPr>
        <a:defRPr sz="1100">
          <a:solidFill>
            <a:srgbClr val="5A5F66"/>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percentStacked"/>
        <c:ser>
          <c:idx val="0"/>
          <c:order val="0"/>
          <c:tx>
            <c:strRef>
              <c:f>Sheet1!$B$1</c:f>
              <c:strCache>
                <c:ptCount val="1"/>
                <c:pt idx="0">
                  <c:v>Medicaid/CHIP</c:v>
                </c:pt>
              </c:strCache>
            </c:strRef>
          </c:tx>
          <c:spPr>
            <a:solidFill>
              <a:srgbClr val="2A78D6"/>
            </a:solidFill>
            <a:ln>
              <a:solidFill>
                <a:srgbClr val="FFFFFF"/>
              </a:solidFill>
            </a:ln>
          </c:spPr>
          <c:dLbls>
            <c:dLbl>
              <c:idx val="0"/>
              <c:tx>
                <c:rich>
                  <a:bodyPr/>
                  <a:lstStyle/>
                  <a:p>
                    <a:r>
                      <a:rPr sz="1100" b="1">
                        <a:solidFill>
                          <a:srgbClr val="FFFFFF"/>
                        </a:solidFill>
                        <a:latin typeface="Calibri"/>
                      </a:rPr>
                      <a:t>65%</a:t>
                    </a:r>
                  </a:p>
                </c:rich>
              </c:tx>
              <c:dLblPos val="ctr"/>
              <c:showLegendKey val="0"/>
              <c:showVal val="1"/>
              <c:showCatName val="0"/>
              <c:showSerName val="0"/>
              <c:showPercent val="0"/>
              <c:showBubbleSize val="0"/>
            </c:dLbl>
            <c:dLbl>
              <c:idx val="1"/>
              <c:tx>
                <c:rich>
                  <a:bodyPr/>
                  <a:lstStyle/>
                  <a:p>
                    <a:r>
                      <a:rPr sz="1100" b="1">
                        <a:solidFill>
                          <a:srgbClr val="FFFFFF"/>
                        </a:solidFill>
                        <a:latin typeface="Calibri"/>
                      </a:rPr>
                      <a:t>41%</a:t>
                    </a:r>
                  </a:p>
                </c:rich>
              </c:tx>
              <c:dLblPos val="ctr"/>
              <c:showLegendKey val="0"/>
              <c:showVal val="1"/>
              <c:showCatName val="0"/>
              <c:showSerName val="0"/>
              <c:showPercent val="0"/>
              <c:showBubbleSize val="0"/>
            </c:dLbl>
            <c:dLbl>
              <c:idx val="2"/>
              <c:tx>
                <c:rich>
                  <a:bodyPr/>
                  <a:lstStyle/>
                  <a:p>
                    <a:r>
                      <a:rPr sz="1100" b="1">
                        <a:solidFill>
                          <a:srgbClr val="FFFFFF"/>
                        </a:solidFill>
                        <a:latin typeface="Calibri"/>
                      </a:rPr>
                      <a:t>35%</a:t>
                    </a:r>
                  </a:p>
                </c:rich>
              </c:tx>
              <c:dLblPos val="ctr"/>
              <c:showLegendKey val="0"/>
              <c:showVal val="1"/>
              <c:showCatName val="0"/>
              <c:showSerName val="0"/>
              <c:showPercent val="0"/>
              <c:showBubbleSize val="0"/>
            </c:dLbl>
            <c:dLbl>
              <c:idx val="3"/>
              <c:tx>
                <c:rich>
                  <a:bodyPr/>
                  <a:lstStyle/>
                  <a:p>
                    <a:r>
                      <a:rPr sz="1100" b="1">
                        <a:solidFill>
                          <a:srgbClr val="FFFFFF"/>
                        </a:solidFill>
                        <a:latin typeface="Calibri"/>
                      </a:rPr>
                      <a:t>26%</a:t>
                    </a:r>
                  </a:p>
                </c:rich>
              </c:tx>
              <c:dLblPos val="ctr"/>
              <c:showLegendKey val="0"/>
              <c:showVal val="1"/>
              <c:showCatName val="0"/>
              <c:showSerName val="0"/>
              <c:showPercent val="0"/>
              <c:showBubbleSize val="0"/>
            </c:dLbl>
            <c:dLbl>
              <c:idx val="4"/>
              <c:tx>
                <c:rich>
                  <a:bodyPr/>
                  <a:lstStyle/>
                  <a:p>
                    <a:r>
                      <a:rPr sz="1100" b="1">
                        <a:solidFill>
                          <a:srgbClr val="FFFFFF"/>
                        </a:solidFill>
                        <a:latin typeface="Calibri"/>
                      </a:rPr>
                      <a:t>6%</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Under 15</c:v>
                </c:pt>
                <c:pt idx="1">
                  <c:v>15-24</c:v>
                </c:pt>
                <c:pt idx="2">
                  <c:v>25-44</c:v>
                </c:pt>
                <c:pt idx="3">
                  <c:v>45-64</c:v>
                </c:pt>
                <c:pt idx="4">
                  <c:v>65-74</c:v>
                </c:pt>
                <c:pt idx="5">
                  <c:v>75+</c:v>
                </c:pt>
              </c:strCache>
            </c:strRef>
          </c:cat>
          <c:val>
            <c:numRef>
              <c:f>Sheet1!$B$2:$B$7</c:f>
              <c:numCache>
                <c:formatCode>General</c:formatCode>
                <c:ptCount val="6"/>
                <c:pt idx="0">
                  <c:v>65.2</c:v>
                </c:pt>
                <c:pt idx="1">
                  <c:v>40.8</c:v>
                </c:pt>
                <c:pt idx="2">
                  <c:v>34.9</c:v>
                </c:pt>
                <c:pt idx="3">
                  <c:v>26.0</c:v>
                </c:pt>
                <c:pt idx="4">
                  <c:v>6.0</c:v>
                </c:pt>
                <c:pt idx="5">
                  <c:v>3.3</c:v>
                </c:pt>
              </c:numCache>
            </c:numRef>
          </c:val>
        </c:ser>
        <c:ser>
          <c:idx val="1"/>
          <c:order val="1"/>
          <c:tx>
            <c:strRef>
              <c:f>Sheet1!$C$1</c:f>
              <c:strCache>
                <c:ptCount val="1"/>
                <c:pt idx="0">
                  <c:v>Private</c:v>
                </c:pt>
              </c:strCache>
            </c:strRef>
          </c:tx>
          <c:spPr>
            <a:solidFill>
              <a:srgbClr val="EB6834"/>
            </a:solidFill>
            <a:ln>
              <a:solidFill>
                <a:srgbClr val="FFFFFF"/>
              </a:solidFill>
            </a:ln>
          </c:spPr>
          <c:cat>
            <c:strRef>
              <c:f>Sheet1!$A$2:$A$7</c:f>
              <c:strCache>
                <c:ptCount val="6"/>
                <c:pt idx="0">
                  <c:v>Under 15</c:v>
                </c:pt>
                <c:pt idx="1">
                  <c:v>15-24</c:v>
                </c:pt>
                <c:pt idx="2">
                  <c:v>25-44</c:v>
                </c:pt>
                <c:pt idx="3">
                  <c:v>45-64</c:v>
                </c:pt>
                <c:pt idx="4">
                  <c:v>65-74</c:v>
                </c:pt>
                <c:pt idx="5">
                  <c:v>75+</c:v>
                </c:pt>
              </c:strCache>
            </c:strRef>
          </c:cat>
          <c:val>
            <c:numRef>
              <c:f>Sheet1!$C$2:$C$7</c:f>
              <c:numCache>
                <c:formatCode>General</c:formatCode>
                <c:ptCount val="6"/>
                <c:pt idx="0">
                  <c:v>27.2</c:v>
                </c:pt>
                <c:pt idx="1">
                  <c:v>37.7</c:v>
                </c:pt>
                <c:pt idx="2">
                  <c:v>34.7</c:v>
                </c:pt>
                <c:pt idx="3">
                  <c:v>41.4</c:v>
                </c:pt>
                <c:pt idx="4">
                  <c:v>10.8</c:v>
                </c:pt>
                <c:pt idx="5">
                  <c:v>7.9</c:v>
                </c:pt>
              </c:numCache>
            </c:numRef>
          </c:val>
        </c:ser>
        <c:ser>
          <c:idx val="2"/>
          <c:order val="2"/>
          <c:tx>
            <c:strRef>
              <c:f>Sheet1!$D$1</c:f>
              <c:strCache>
                <c:ptCount val="1"/>
                <c:pt idx="0">
                  <c:v>Medicare</c:v>
                </c:pt>
              </c:strCache>
            </c:strRef>
          </c:tx>
          <c:spPr>
            <a:solidFill>
              <a:srgbClr val="1BAF7A"/>
            </a:solidFill>
            <a:ln>
              <a:solidFill>
                <a:srgbClr val="FFFFFF"/>
              </a:solidFill>
            </a:ln>
          </c:spPr>
          <c:dLbls>
            <c:dLbl>
              <c:idx val="2"/>
              <c:tx>
                <c:rich>
                  <a:bodyPr/>
                  <a:lstStyle/>
                  <a:p>
                    <a:r>
                      <a:rPr sz="1100" b="1">
                        <a:solidFill>
                          <a:srgbClr val="FFFFFF"/>
                        </a:solidFill>
                        <a:latin typeface="Calibri"/>
                      </a:rPr>
                      <a:t>7%</a:t>
                    </a:r>
                  </a:p>
                </c:rich>
              </c:tx>
              <c:dLblPos val="ctr"/>
              <c:showLegendKey val="0"/>
              <c:showVal val="1"/>
              <c:showCatName val="0"/>
              <c:showSerName val="0"/>
              <c:showPercent val="0"/>
              <c:showBubbleSize val="0"/>
            </c:dLbl>
            <c:dLbl>
              <c:idx val="3"/>
              <c:tx>
                <c:rich>
                  <a:bodyPr/>
                  <a:lstStyle/>
                  <a:p>
                    <a:r>
                      <a:rPr sz="1100" b="1">
                        <a:solidFill>
                          <a:srgbClr val="FFFFFF"/>
                        </a:solidFill>
                        <a:latin typeface="Calibri"/>
                      </a:rPr>
                      <a:t>18%</a:t>
                    </a:r>
                  </a:p>
                </c:rich>
              </c:tx>
              <c:dLblPos val="ctr"/>
              <c:showLegendKey val="0"/>
              <c:showVal val="1"/>
              <c:showCatName val="0"/>
              <c:showSerName val="0"/>
              <c:showPercent val="0"/>
              <c:showBubbleSize val="0"/>
            </c:dLbl>
            <c:dLbl>
              <c:idx val="4"/>
              <c:tx>
                <c:rich>
                  <a:bodyPr/>
                  <a:lstStyle/>
                  <a:p>
                    <a:r>
                      <a:rPr sz="1100" b="1">
                        <a:solidFill>
                          <a:srgbClr val="FFFFFF"/>
                        </a:solidFill>
                        <a:latin typeface="Calibri"/>
                      </a:rPr>
                      <a:t>78%</a:t>
                    </a:r>
                  </a:p>
                </c:rich>
              </c:tx>
              <c:dLblPos val="ctr"/>
              <c:showLegendKey val="0"/>
              <c:showVal val="1"/>
              <c:showCatName val="0"/>
              <c:showSerName val="0"/>
              <c:showPercent val="0"/>
              <c:showBubbleSize val="0"/>
            </c:dLbl>
            <c:dLbl>
              <c:idx val="5"/>
              <c:tx>
                <c:rich>
                  <a:bodyPr/>
                  <a:lstStyle/>
                  <a:p>
                    <a:r>
                      <a:rPr sz="1100" b="1">
                        <a:solidFill>
                          <a:srgbClr val="FFFFFF"/>
                        </a:solidFill>
                        <a:latin typeface="Calibri"/>
                      </a:rPr>
                      <a:t>87%</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Under 15</c:v>
                </c:pt>
                <c:pt idx="1">
                  <c:v>15-24</c:v>
                </c:pt>
                <c:pt idx="2">
                  <c:v>25-44</c:v>
                </c:pt>
                <c:pt idx="3">
                  <c:v>45-64</c:v>
                </c:pt>
                <c:pt idx="4">
                  <c:v>65-74</c:v>
                </c:pt>
                <c:pt idx="5">
                  <c:v>75+</c:v>
                </c:pt>
              </c:strCache>
            </c:strRef>
          </c:cat>
          <c:val>
            <c:numRef>
              <c:f>Sheet1!$D$2:$D$7</c:f>
              <c:numCache>
                <c:formatCode>General</c:formatCode>
                <c:ptCount val="6"/>
                <c:pt idx="0">
                  <c:v>1.1</c:v>
                </c:pt>
                <c:pt idx="1">
                  <c:v>2.5</c:v>
                </c:pt>
                <c:pt idx="2">
                  <c:v>6.8</c:v>
                </c:pt>
                <c:pt idx="3">
                  <c:v>18.0</c:v>
                </c:pt>
                <c:pt idx="4">
                  <c:v>78.3</c:v>
                </c:pt>
                <c:pt idx="5">
                  <c:v>86.9</c:v>
                </c:pt>
              </c:numCache>
            </c:numRef>
          </c:val>
        </c:ser>
        <c:ser>
          <c:idx val="3"/>
          <c:order val="3"/>
          <c:tx>
            <c:strRef>
              <c:f>Sheet1!$E$1</c:f>
              <c:strCache>
                <c:ptCount val="1"/>
                <c:pt idx="0">
                  <c:v>Self-pay</c:v>
                </c:pt>
              </c:strCache>
            </c:strRef>
          </c:tx>
          <c:spPr>
            <a:solidFill>
              <a:srgbClr val="EDA100"/>
            </a:solidFill>
            <a:ln>
              <a:solidFill>
                <a:srgbClr val="FFFFFF"/>
              </a:solidFill>
            </a:ln>
          </c:spPr>
          <c:cat>
            <c:strRef>
              <c:f>Sheet1!$A$2:$A$7</c:f>
              <c:strCache>
                <c:ptCount val="6"/>
                <c:pt idx="0">
                  <c:v>Under 15</c:v>
                </c:pt>
                <c:pt idx="1">
                  <c:v>15-24</c:v>
                </c:pt>
                <c:pt idx="2">
                  <c:v>25-44</c:v>
                </c:pt>
                <c:pt idx="3">
                  <c:v>45-64</c:v>
                </c:pt>
                <c:pt idx="4">
                  <c:v>65-74</c:v>
                </c:pt>
                <c:pt idx="5">
                  <c:v>75+</c:v>
                </c:pt>
              </c:strCache>
            </c:strRef>
          </c:cat>
          <c:val>
            <c:numRef>
              <c:f>Sheet1!$E$2:$E$7</c:f>
              <c:numCache>
                <c:formatCode>General</c:formatCode>
                <c:ptCount val="6"/>
                <c:pt idx="0">
                  <c:v>4.7</c:v>
                </c:pt>
                <c:pt idx="1">
                  <c:v>14.2</c:v>
                </c:pt>
                <c:pt idx="2">
                  <c:v>17.5</c:v>
                </c:pt>
                <c:pt idx="3">
                  <c:v>9.5</c:v>
                </c:pt>
                <c:pt idx="4">
                  <c:v>2.3</c:v>
                </c:pt>
                <c:pt idx="5">
                  <c:v>0.4</c:v>
                </c:pt>
              </c:numCache>
            </c:numRef>
          </c:val>
        </c:ser>
        <c:ser>
          <c:idx val="4"/>
          <c:order val="4"/>
          <c:tx>
            <c:strRef>
              <c:f>Sheet1!$F$1</c:f>
              <c:strCache>
                <c:ptCount val="1"/>
                <c:pt idx="0">
                  <c:v>Other</c:v>
                </c:pt>
              </c:strCache>
            </c:strRef>
          </c:tx>
          <c:spPr>
            <a:solidFill>
              <a:srgbClr val="E87BA4"/>
            </a:solidFill>
            <a:ln>
              <a:solidFill>
                <a:srgbClr val="FFFFFF"/>
              </a:solidFill>
            </a:ln>
          </c:spPr>
          <c:cat>
            <c:strRef>
              <c:f>Sheet1!$A$2:$A$7</c:f>
              <c:strCache>
                <c:ptCount val="6"/>
                <c:pt idx="0">
                  <c:v>Under 15</c:v>
                </c:pt>
                <c:pt idx="1">
                  <c:v>15-24</c:v>
                </c:pt>
                <c:pt idx="2">
                  <c:v>25-44</c:v>
                </c:pt>
                <c:pt idx="3">
                  <c:v>45-64</c:v>
                </c:pt>
                <c:pt idx="4">
                  <c:v>65-74</c:v>
                </c:pt>
                <c:pt idx="5">
                  <c:v>75+</c:v>
                </c:pt>
              </c:strCache>
            </c:strRef>
          </c:cat>
          <c:val>
            <c:numRef>
              <c:f>Sheet1!$F$2:$F$7</c:f>
              <c:numCache>
                <c:formatCode>General</c:formatCode>
                <c:ptCount val="6"/>
                <c:pt idx="0">
                  <c:v>1.9</c:v>
                </c:pt>
                <c:pt idx="1">
                  <c:v>4.7</c:v>
                </c:pt>
                <c:pt idx="2">
                  <c:v>6.1</c:v>
                </c:pt>
                <c:pt idx="3">
                  <c:v>5.2</c:v>
                </c:pt>
                <c:pt idx="4">
                  <c:v>2.6</c:v>
                </c:pt>
                <c:pt idx="5">
                  <c:v>1.5</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BBBBBB"/>
            </a:solidFill>
          </a:ln>
        </c:spPr>
        <c:crossAx val="-2113994440"/>
        <c:crosses val="autoZero"/>
        <c:auto val="1"/>
        <c:lblAlgn val="ctr"/>
        <c:lblOffset val="100"/>
        <c:noMultiLvlLbl val="0"/>
      </c:catAx>
      <c:valAx>
        <c:axId val="-2113994440"/>
        <c:scaling/>
        <c:delete val="0"/>
        <c:axPos val="b"/>
        <c:majorGridlines>
          <c:spPr>
            <a:ln>
              <a:solidFill>
                <a:srgbClr val="E3E3E0"/>
              </a:solidFill>
            </a:ln>
          </c:spPr>
        </c:majorGridlines>
        <c:numFmt formatCode="0%" sourceLinked="0"/>
        <c:majorTickMark val="out"/>
        <c:minorTickMark val="none"/>
        <c:tickLblPos val="nextTo"/>
        <c:spPr>
          <a:ln>
            <a:noFill/>
          </a:ln>
        </c:spPr>
        <c:crossAx val="-2068027336"/>
        <c:crosses val="autoZero"/>
      </c:valAx>
    </c:plotArea>
    <c:legend>
      <c:legendPos val="b"/>
      <c:overlay val="0"/>
    </c:legend>
    <c:dispBlanksAs val="gap"/>
  </c:chart>
  <c:txPr>
    <a:bodyPr/>
    <a:lstStyle/>
    <a:p>
      <a:pPr>
        <a:defRPr sz="1100">
          <a:solidFill>
            <a:srgbClr val="5A5F66"/>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 of visits</c:v>
                </c:pt>
              </c:strCache>
            </c:strRef>
          </c:tx>
          <c:spPr>
            <a:solidFill>
              <a:srgbClr val="2A78D6"/>
            </a:solidFill>
          </c:spPr>
          <c:dPt>
            <c:idx val="1"/>
            <c:spPr>
              <a:solidFill>
                <a:srgbClr val="EB6834"/>
              </a:solidFill>
            </c:spPr>
          </c:dPt>
          <c:dLbls>
            <c:numFmt formatCode="0.0&quot;%&quot;" sourceLinked="0"/>
            <c:txPr>
              <a:bodyPr/>
              <a:lstStyle/>
              <a:p>
                <a:pPr>
                  <a:defRPr sz="1100" b="0">
                    <a:solidFill>
                      <a:srgbClr val="5A5F66"/>
                    </a:solidFill>
                    <a:latin typeface="Calibri"/>
                  </a:defRPr>
                </a:pPr>
              </a:p>
            </c:txPr>
            <c:dLblPos val="outEnd"/>
            <c:showLegendKey val="0"/>
            <c:showVal val="1"/>
            <c:showCatName val="0"/>
            <c:showSerName val="0"/>
            <c:showPercent val="0"/>
            <c:showBubbleSize val="0"/>
            <c:showLeaderLines val="1"/>
          </c:dLbls>
          <c:cat>
            <c:strRef>
              <c:f>Sheet1!$A$2:$A$9</c:f>
              <c:strCache>
                <c:ptCount val="8"/>
                <c:pt idx="0">
                  <c:v>Hypertension</c:v>
                </c:pt>
                <c:pt idx="1">
                  <c:v>Any diabetes (type 1, 2 or unspecified)</c:v>
                </c:pt>
                <c:pt idx="2">
                  <c:v>Asthma</c:v>
                </c:pt>
                <c:pt idx="3">
                  <c:v>Depression</c:v>
                </c:pt>
                <c:pt idx="4">
                  <c:v>Hyperlipidemia</c:v>
                </c:pt>
                <c:pt idx="5">
                  <c:v>Substance abuse</c:v>
                </c:pt>
                <c:pt idx="6">
                  <c:v>Coronary artery disease</c:v>
                </c:pt>
                <c:pt idx="7">
                  <c:v>COPD</c:v>
                </c:pt>
              </c:strCache>
            </c:strRef>
          </c:cat>
          <c:val>
            <c:numRef>
              <c:f>Sheet1!$B$2:$B$9</c:f>
              <c:numCache>
                <c:formatCode>General</c:formatCode>
                <c:ptCount val="8"/>
                <c:pt idx="0">
                  <c:v>23.97</c:v>
                </c:pt>
                <c:pt idx="1">
                  <c:v>11.06</c:v>
                </c:pt>
                <c:pt idx="2">
                  <c:v>9.98</c:v>
                </c:pt>
                <c:pt idx="3">
                  <c:v>9.45</c:v>
                </c:pt>
                <c:pt idx="4">
                  <c:v>8.17</c:v>
                </c:pt>
                <c:pt idx="5">
                  <c:v>6.65</c:v>
                </c:pt>
                <c:pt idx="6">
                  <c:v>6.08</c:v>
                </c:pt>
                <c:pt idx="7">
                  <c:v>5.37</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BBBBBB"/>
            </a:solidFill>
          </a:ln>
        </c:spPr>
        <c:crossAx val="-2113994440"/>
        <c:crosses val="autoZero"/>
        <c:auto val="1"/>
        <c:lblAlgn val="ctr"/>
        <c:lblOffset val="100"/>
        <c:noMultiLvlLbl val="0"/>
      </c:catAx>
      <c:valAx>
        <c:axId val="-2113994440"/>
        <c:scaling/>
        <c:delete/>
        <c:axPos val="b"/>
        <c:majorTickMark val="out"/>
        <c:minorTickMark val="none"/>
        <c:tickLblPos val="nextTo"/>
        <c:spPr>
          <a:ln>
            <a:noFill/>
          </a:ln>
        </c:spPr>
        <c:crossAx val="-2068027336"/>
        <c:crosses val="autoZero"/>
      </c:valAx>
    </c:plotArea>
    <c:dispBlanksAs val="gap"/>
  </c:chart>
  <c:txPr>
    <a:bodyPr/>
    <a:lstStyle/>
    <a:p>
      <a:pPr>
        <a:defRPr sz="1100">
          <a:solidFill>
            <a:srgbClr val="5A5F66"/>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Admitted to hospital (%)</c:v>
                </c:pt>
              </c:strCache>
            </c:strRef>
          </c:tx>
          <c:spPr>
            <a:solidFill>
              <a:srgbClr val="CADCFC"/>
            </a:solidFill>
          </c:spPr>
          <c:dLbls>
            <c:numFmt formatCode="0&quot;%&quot;" sourceLinked="0"/>
            <c:txPr>
              <a:bodyPr/>
              <a:lstStyle/>
              <a:p>
                <a:pPr>
                  <a:defRPr sz="1200" b="1">
                    <a:solidFill>
                      <a:srgbClr val="FFFFFF"/>
                    </a:solidFill>
                    <a:latin typeface="Calibri"/>
                  </a:defRPr>
                </a:pPr>
              </a:p>
            </c:txPr>
            <c:dLblPos val="outEnd"/>
            <c:showLegendKey val="0"/>
            <c:showVal val="1"/>
            <c:showCatName val="0"/>
            <c:showSerName val="0"/>
            <c:showPercent val="0"/>
            <c:showBubbleSize val="0"/>
            <c:showLeaderLines val="1"/>
          </c:dLbls>
          <c:cat>
            <c:strRef>
              <c:f>Sheet1!$A$2:$A$6</c:f>
              <c:strCache>
                <c:ptCount val="5"/>
                <c:pt idx="0">
                  <c:v>1 Immediate</c:v>
                </c:pt>
                <c:pt idx="1">
                  <c:v>2 Emergent</c:v>
                </c:pt>
                <c:pt idx="2">
                  <c:v>3 Urgent</c:v>
                </c:pt>
                <c:pt idx="3">
                  <c:v>4 Semi-urgent</c:v>
                </c:pt>
                <c:pt idx="4">
                  <c:v>5 Nonurgent</c:v>
                </c:pt>
              </c:strCache>
            </c:strRef>
          </c:cat>
          <c:val>
            <c:numRef>
              <c:f>Sheet1!$B$2:$B$6</c:f>
              <c:numCache>
                <c:formatCode>General</c:formatCode>
                <c:ptCount val="5"/>
                <c:pt idx="0">
                  <c:v>33.34</c:v>
                </c:pt>
                <c:pt idx="1">
                  <c:v>25.03</c:v>
                </c:pt>
                <c:pt idx="2">
                  <c:v>11.4</c:v>
                </c:pt>
                <c:pt idx="3">
                  <c:v>2.28</c:v>
                </c:pt>
                <c:pt idx="4">
                  <c:v>2.53</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BBBBBB"/>
            </a:solidFill>
          </a:ln>
        </c:spPr>
        <c:crossAx val="-2113994440"/>
        <c:crosses val="autoZero"/>
        <c:auto val="1"/>
        <c:lblAlgn val="ctr"/>
        <c:lblOffset val="100"/>
        <c:noMultiLvlLbl val="0"/>
      </c:catAx>
      <c:valAx>
        <c:axId val="-2113994440"/>
        <c:scaling/>
        <c:delete/>
        <c:axPos val="l"/>
        <c:majorTickMark val="out"/>
        <c:minorTickMark val="none"/>
        <c:tickLblPos val="nextTo"/>
        <c:spPr>
          <a:ln>
            <a:noFill/>
          </a:ln>
        </c:spPr>
        <c:crossAx val="-2068027336"/>
        <c:crosses val="autoZero"/>
      </c:valAx>
    </c:plotArea>
    <c:dispBlanksAs val="gap"/>
  </c:chart>
  <c:txPr>
    <a:bodyPr/>
    <a:lstStyle/>
    <a:p>
      <a:pPr>
        <a:defRPr sz="1000">
          <a:solidFill>
            <a:srgbClr val="CADCFC"/>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Median recorded wait to see a provider (min)</c:v>
                </c:pt>
              </c:strCache>
            </c:strRef>
          </c:tx>
          <c:spPr>
            <a:solidFill>
              <a:srgbClr val="EB6834"/>
            </a:solidFill>
          </c:spPr>
          <c:dLbls>
            <c:numFmt formatCode="0" sourceLinked="0"/>
            <c:txPr>
              <a:bodyPr/>
              <a:lstStyle/>
              <a:p>
                <a:pPr>
                  <a:defRPr sz="1200" b="1">
                    <a:solidFill>
                      <a:srgbClr val="FFFFFF"/>
                    </a:solidFill>
                    <a:latin typeface="Calibri"/>
                  </a:defRPr>
                </a:pPr>
              </a:p>
            </c:txPr>
            <c:dLblPos val="outEnd"/>
            <c:showLegendKey val="0"/>
            <c:showVal val="1"/>
            <c:showCatName val="0"/>
            <c:showSerName val="0"/>
            <c:showPercent val="0"/>
            <c:showBubbleSize val="0"/>
            <c:showLeaderLines val="1"/>
          </c:dLbls>
          <c:cat>
            <c:strRef>
              <c:f>Sheet1!$A$2:$A$6</c:f>
              <c:strCache>
                <c:ptCount val="5"/>
                <c:pt idx="0">
                  <c:v>1 Immediate</c:v>
                </c:pt>
                <c:pt idx="1">
                  <c:v>2 Emergent</c:v>
                </c:pt>
                <c:pt idx="2">
                  <c:v>3 Urgent</c:v>
                </c:pt>
                <c:pt idx="3">
                  <c:v>4 Semi-urgent</c:v>
                </c:pt>
                <c:pt idx="4">
                  <c:v>5 Nonurgent</c:v>
                </c:pt>
              </c:strCache>
            </c:strRef>
          </c:cat>
          <c:val>
            <c:numRef>
              <c:f>Sheet1!$B$2:$B$6</c:f>
              <c:numCache>
                <c:formatCode>General</c:formatCode>
                <c:ptCount val="5"/>
                <c:pt idx="0">
                  <c:v>14</c:v>
                </c:pt>
                <c:pt idx="1">
                  <c:v>18</c:v>
                </c:pt>
                <c:pt idx="2">
                  <c:v>20</c:v>
                </c:pt>
                <c:pt idx="3">
                  <c:v>19</c:v>
                </c:pt>
                <c:pt idx="4">
                  <c:v>18</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BBBBBB"/>
            </a:solidFill>
          </a:ln>
        </c:spPr>
        <c:crossAx val="-2113994440"/>
        <c:crosses val="autoZero"/>
        <c:auto val="1"/>
        <c:lblAlgn val="ctr"/>
        <c:lblOffset val="100"/>
        <c:noMultiLvlLbl val="0"/>
      </c:catAx>
      <c:valAx>
        <c:axId val="-2113994440"/>
        <c:scaling/>
        <c:delete/>
        <c:axPos val="l"/>
        <c:majorTickMark val="out"/>
        <c:minorTickMark val="none"/>
        <c:tickLblPos val="nextTo"/>
        <c:spPr>
          <a:ln>
            <a:noFill/>
          </a:ln>
        </c:spPr>
        <c:crossAx val="-2068027336"/>
        <c:crosses val="autoZero"/>
      </c:valAx>
    </c:plotArea>
    <c:dispBlanksAs val="gap"/>
  </c:chart>
  <c:txPr>
    <a:bodyPr/>
    <a:lstStyle/>
    <a:p>
      <a:pPr>
        <a:defRPr sz="1000">
          <a:solidFill>
            <a:srgbClr val="CADCFC"/>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sampled ED visit (one Patient Record Form), not a patient. NCHS stores most missing answers as negative codes, so a standard NaN count understates missingness. Missing wait times are more common where triage was not recorded (38-45%) than at triage levels 1-5 (7-12%), and in the Northeast and West, so wait-time results describe visits with a recorded wait. All results are weighted point estimates without design-based standard errors.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Weekdays are compared as average visits per day because 2015 had 53 Thursdays. Arrivals are lowest from 3am to 6am, climb from 7am, and stay near peak until about 8pm; 69% arrive between 10am and 10pm, and the peak hour has 4.7 times the arrivals of the quietest. The Monday excess is consistent with demand deferred over the weekend, but the data cannot establish why. NHAMCS does not measure occupancy directly.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PAYTYPER is the primary expected source of payment, chosen by an NCHS hierarchy when several are listed; our all-visit shares match the NCHS table (Medicaid 31.15%). 10.8% of visits have a blank or unknown payer and are excluded from the chart. EDs must screen and stabilize patients regardless of ability to pay (EMTALA), so hospitals have little control over this mix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chronic-condition flags describe patients' conditions, not the reason for the visit, so they do not show whether visits were flare-ups or avoidable. Obesity (3.6%) likely understates prevalence because it depends on documentation. Medications rise from 2.0 per visit with no recorded chronic condition to 3.8 with three or more. Injury, overdose and adverse-effect visits (33.1% of visits) are covered in the write-up.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Admission falls from 33% at level 1 to 2-3% at levels 4-5 (9.0% overall), consistent with triage identifying sicker patients. The wait comparison is descriptive and uses only visits with a recorded wait. ED deaths (28 sampled records) and dead-on-arrival cases (7) are below the 30-record threshold NCHS uses for reliable estimates, so they are not broken out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324F"/>
        </a:solidFill>
        <a:effectLst/>
      </p:bgPr>
    </p:bg>
    <p:spTree>
      <p:nvGrpSpPr>
        <p:cNvPr id="1" name=""/>
        <p:cNvGrpSpPr/>
        <p:nvPr/>
      </p:nvGrpSpPr>
      <p:grpSpPr/>
      <p:sp>
        <p:nvSpPr>
          <p:cNvPr id="2" name="TextBox 1"/>
          <p:cNvSpPr txBox="1"/>
          <p:nvPr/>
        </p:nvSpPr>
        <p:spPr>
          <a:xfrm>
            <a:off x="548640" y="502920"/>
            <a:ext cx="10972800" cy="365760"/>
          </a:xfrm>
          <a:prstGeom prst="rect">
            <a:avLst/>
          </a:prstGeom>
          <a:noFill/>
        </p:spPr>
        <p:txBody>
          <a:bodyPr wrap="square" anchor="t" lIns="0" rIns="0" tIns="0" bIns="0">
            <a:spAutoFit/>
          </a:bodyPr>
          <a:lstStyle/>
          <a:p>
            <a:pPr algn="l">
              <a:spcAft>
                <a:spcPts val="600"/>
              </a:spcAft>
            </a:pPr>
            <a:r>
              <a:rPr sz="1300" b="1">
                <a:solidFill>
                  <a:srgbClr val="CADCFC"/>
                </a:solidFill>
                <a:latin typeface="Calibri"/>
              </a:rPr>
              <a:t>MGT 634 · HOMEWORK 1 · NHAMCS EMERGENCY DEPARTMENT DATA, 2015</a:t>
            </a:r>
          </a:p>
        </p:txBody>
      </p:sp>
      <p:sp>
        <p:nvSpPr>
          <p:cNvPr id="3" name="TextBox 2"/>
          <p:cNvSpPr txBox="1"/>
          <p:nvPr/>
        </p:nvSpPr>
        <p:spPr>
          <a:xfrm>
            <a:off x="548640" y="868680"/>
            <a:ext cx="11064240" cy="1280160"/>
          </a:xfrm>
          <a:prstGeom prst="rect">
            <a:avLst/>
          </a:prstGeom>
          <a:noFill/>
        </p:spPr>
        <p:txBody>
          <a:bodyPr wrap="square" anchor="t" lIns="0" rIns="0" tIns="0" bIns="0">
            <a:spAutoFit/>
          </a:bodyPr>
          <a:lstStyle/>
          <a:p>
            <a:pPr algn="l">
              <a:spcAft>
                <a:spcPts val="600"/>
              </a:spcAft>
            </a:pPr>
            <a:r>
              <a:rPr sz="3400" b="1">
                <a:solidFill>
                  <a:srgbClr val="FFFFFF"/>
                </a:solidFill>
                <a:latin typeface="Cambria"/>
              </a:rPr>
              <a:t>137 million ED visits: what the 2015 national sample shows hospital managers</a:t>
            </a:r>
          </a:p>
        </p:txBody>
      </p:sp>
      <p:sp>
        <p:nvSpPr>
          <p:cNvPr id="4" name="TextBox 3"/>
          <p:cNvSpPr txBox="1"/>
          <p:nvPr/>
        </p:nvSpPr>
        <p:spPr>
          <a:xfrm>
            <a:off x="548640" y="2011680"/>
            <a:ext cx="10972800" cy="365760"/>
          </a:xfrm>
          <a:prstGeom prst="rect">
            <a:avLst/>
          </a:prstGeom>
          <a:noFill/>
        </p:spPr>
        <p:txBody>
          <a:bodyPr wrap="square" anchor="t" lIns="0" rIns="0" tIns="0" bIns="0">
            <a:spAutoFit/>
          </a:bodyPr>
          <a:lstStyle/>
          <a:p>
            <a:pPr algn="l">
              <a:spcAft>
                <a:spcPts val="600"/>
              </a:spcAft>
            </a:pPr>
            <a:r>
              <a:rPr sz="1400" b="0">
                <a:solidFill>
                  <a:srgbClr val="CADCFC"/>
                </a:solidFill>
                <a:latin typeface="Calibri"/>
              </a:rPr>
              <a:t>Michal Kozuchowski, Laila Lapins, Nick Giamalis, Raymond Chang, Sean Weller</a:t>
            </a:r>
          </a:p>
        </p:txBody>
      </p:sp>
      <p:sp>
        <p:nvSpPr>
          <p:cNvPr id="5" name="TextBox 4"/>
          <p:cNvSpPr txBox="1"/>
          <p:nvPr/>
        </p:nvSpPr>
        <p:spPr>
          <a:xfrm>
            <a:off x="548640" y="2880360"/>
            <a:ext cx="3383280" cy="685800"/>
          </a:xfrm>
          <a:prstGeom prst="rect">
            <a:avLst/>
          </a:prstGeom>
          <a:noFill/>
        </p:spPr>
        <p:txBody>
          <a:bodyPr wrap="square" anchor="t" lIns="0" rIns="0" tIns="0" bIns="0">
            <a:spAutoFit/>
          </a:bodyPr>
          <a:lstStyle/>
          <a:p>
            <a:pPr algn="l">
              <a:spcAft>
                <a:spcPts val="600"/>
              </a:spcAft>
            </a:pPr>
            <a:r>
              <a:rPr sz="4000" b="1">
                <a:solidFill>
                  <a:srgbClr val="FFFFFF"/>
                </a:solidFill>
                <a:latin typeface="Cambria"/>
              </a:rPr>
              <a:t>21,061</a:t>
            </a:r>
          </a:p>
        </p:txBody>
      </p:sp>
      <p:sp>
        <p:nvSpPr>
          <p:cNvPr id="6" name="TextBox 5"/>
          <p:cNvSpPr txBox="1"/>
          <p:nvPr/>
        </p:nvSpPr>
        <p:spPr>
          <a:xfrm>
            <a:off x="548640" y="3538728"/>
            <a:ext cx="3383280" cy="822960"/>
          </a:xfrm>
          <a:prstGeom prst="rect">
            <a:avLst/>
          </a:prstGeom>
          <a:noFill/>
        </p:spPr>
        <p:txBody>
          <a:bodyPr wrap="square" anchor="t" lIns="0" rIns="0" tIns="0" bIns="0">
            <a:spAutoFit/>
          </a:bodyPr>
          <a:lstStyle/>
          <a:p>
            <a:pPr algn="l">
              <a:spcAft>
                <a:spcPts val="600"/>
              </a:spcAft>
            </a:pPr>
            <a:r>
              <a:rPr sz="1300" b="0">
                <a:solidFill>
                  <a:srgbClr val="CADCFC"/>
                </a:solidFill>
                <a:latin typeface="Calibri"/>
              </a:rPr>
              <a:t>sampled visits from 248 EDs; each row is one visit, not one patient</a:t>
            </a:r>
          </a:p>
        </p:txBody>
      </p:sp>
      <p:sp>
        <p:nvSpPr>
          <p:cNvPr id="7" name="TextBox 6"/>
          <p:cNvSpPr txBox="1"/>
          <p:nvPr/>
        </p:nvSpPr>
        <p:spPr>
          <a:xfrm>
            <a:off x="4297679" y="2880360"/>
            <a:ext cx="3383280" cy="685800"/>
          </a:xfrm>
          <a:prstGeom prst="rect">
            <a:avLst/>
          </a:prstGeom>
          <a:noFill/>
        </p:spPr>
        <p:txBody>
          <a:bodyPr wrap="square" anchor="t" lIns="0" rIns="0" tIns="0" bIns="0">
            <a:spAutoFit/>
          </a:bodyPr>
          <a:lstStyle/>
          <a:p>
            <a:pPr algn="l">
              <a:spcAft>
                <a:spcPts val="600"/>
              </a:spcAft>
            </a:pPr>
            <a:r>
              <a:rPr sz="4000" b="1">
                <a:solidFill>
                  <a:srgbClr val="FFFFFF"/>
                </a:solidFill>
                <a:latin typeface="Cambria"/>
              </a:rPr>
              <a:t>136.9M</a:t>
            </a:r>
          </a:p>
        </p:txBody>
      </p:sp>
      <p:sp>
        <p:nvSpPr>
          <p:cNvPr id="8" name="TextBox 7"/>
          <p:cNvSpPr txBox="1"/>
          <p:nvPr/>
        </p:nvSpPr>
        <p:spPr>
          <a:xfrm>
            <a:off x="4297679" y="3538728"/>
            <a:ext cx="3383280" cy="822960"/>
          </a:xfrm>
          <a:prstGeom prst="rect">
            <a:avLst/>
          </a:prstGeom>
          <a:noFill/>
        </p:spPr>
        <p:txBody>
          <a:bodyPr wrap="square" anchor="t" lIns="0" rIns="0" tIns="0" bIns="0">
            <a:spAutoFit/>
          </a:bodyPr>
          <a:lstStyle/>
          <a:p>
            <a:pPr algn="l">
              <a:spcAft>
                <a:spcPts val="600"/>
              </a:spcAft>
            </a:pPr>
            <a:r>
              <a:rPr sz="1300" b="0">
                <a:solidFill>
                  <a:srgbClr val="CADCFC"/>
                </a:solidFill>
                <a:latin typeface="Calibri"/>
              </a:rPr>
              <a:t>U.S. ED visits once weighted by PATWT, matching the NCHS-published total</a:t>
            </a:r>
          </a:p>
        </p:txBody>
      </p:sp>
      <p:sp>
        <p:nvSpPr>
          <p:cNvPr id="9" name="TextBox 8"/>
          <p:cNvSpPr txBox="1"/>
          <p:nvPr/>
        </p:nvSpPr>
        <p:spPr>
          <a:xfrm>
            <a:off x="8046719" y="2880360"/>
            <a:ext cx="3383280" cy="685800"/>
          </a:xfrm>
          <a:prstGeom prst="rect">
            <a:avLst/>
          </a:prstGeom>
          <a:noFill/>
        </p:spPr>
        <p:txBody>
          <a:bodyPr wrap="square" anchor="t" lIns="0" rIns="0" tIns="0" bIns="0">
            <a:spAutoFit/>
          </a:bodyPr>
          <a:lstStyle/>
          <a:p>
            <a:pPr algn="l">
              <a:spcAft>
                <a:spcPts val="600"/>
              </a:spcAft>
            </a:pPr>
            <a:r>
              <a:rPr sz="4000" b="1">
                <a:solidFill>
                  <a:srgbClr val="FFFFFF"/>
                </a:solidFill>
                <a:latin typeface="Cambria"/>
              </a:rPr>
              <a:t>-9 / -8 / -7</a:t>
            </a:r>
          </a:p>
        </p:txBody>
      </p:sp>
      <p:sp>
        <p:nvSpPr>
          <p:cNvPr id="10" name="TextBox 9"/>
          <p:cNvSpPr txBox="1"/>
          <p:nvPr/>
        </p:nvSpPr>
        <p:spPr>
          <a:xfrm>
            <a:off x="8046719" y="3538728"/>
            <a:ext cx="3383280" cy="822960"/>
          </a:xfrm>
          <a:prstGeom prst="rect">
            <a:avLst/>
          </a:prstGeom>
          <a:noFill/>
        </p:spPr>
        <p:txBody>
          <a:bodyPr wrap="square" anchor="t" lIns="0" rIns="0" tIns="0" bIns="0">
            <a:spAutoFit/>
          </a:bodyPr>
          <a:lstStyle/>
          <a:p>
            <a:pPr algn="l">
              <a:spcAft>
                <a:spcPts val="600"/>
              </a:spcAft>
            </a:pPr>
            <a:r>
              <a:rPr sz="1300" b="0">
                <a:solidFill>
                  <a:srgbClr val="CADCFC"/>
                </a:solidFill>
                <a:latin typeface="Calibri"/>
              </a:rPr>
              <a:t>codes NCHS uses for blank, unknown and not-applicable answers; recoded to missing</a:t>
            </a:r>
          </a:p>
        </p:txBody>
      </p:sp>
      <p:sp>
        <p:nvSpPr>
          <p:cNvPr id="11" name="TextBox 10"/>
          <p:cNvSpPr txBox="1"/>
          <p:nvPr/>
        </p:nvSpPr>
        <p:spPr>
          <a:xfrm>
            <a:off x="548640" y="4800600"/>
            <a:ext cx="11064240" cy="1463040"/>
          </a:xfrm>
          <a:prstGeom prst="rect">
            <a:avLst/>
          </a:prstGeom>
          <a:noFill/>
        </p:spPr>
        <p:txBody>
          <a:bodyPr wrap="square" anchor="t" lIns="0" rIns="0" tIns="0" bIns="0">
            <a:spAutoFit/>
          </a:bodyPr>
          <a:lstStyle/>
          <a:p>
            <a:pPr algn="l">
              <a:spcAft>
                <a:spcPts val="600"/>
              </a:spcAft>
            </a:pPr>
            <a:r>
              <a:rPr sz="1500" b="1">
                <a:solidFill>
                  <a:srgbClr val="FFFFFF"/>
                </a:solidFill>
                <a:latin typeface="Calibri"/>
              </a:rPr>
              <a:t>Method</a:t>
            </a:r>
          </a:p>
          <a:p>
            <a:pPr algn="l">
              <a:spcAft>
                <a:spcPts val="600"/>
              </a:spcAft>
            </a:pPr>
            <a:r>
              <a:rPr sz="1400" b="0">
                <a:solidFill>
                  <a:srgbClr val="CADCFC"/>
                </a:solidFill>
                <a:latin typeface="Calibri"/>
              </a:rPr>
              <a:t>National totals, shares and rates weighted by PATWT; sample counts shown unweighted. Missing-value codes recoded before any statistic. Waits and stays summarized mainly with medians; the write-up also reports raw means and means capped at the 99.5th percentile. Key estimates compared with figures NCHS publishes: all agree to rounding except wait-time missingness (15.2% vs 15.7%).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nchor="t" lIns="0" rIns="0" tIns="0" bIns="0">
            <a:spAutoFit/>
          </a:bodyPr>
          <a:lstStyle/>
          <a:p>
            <a:pPr algn="l">
              <a:spcAft>
                <a:spcPts val="600"/>
              </a:spcAft>
            </a:pPr>
            <a:r>
              <a:rPr sz="2600" b="1">
                <a:solidFill>
                  <a:srgbClr val="16324F"/>
                </a:solidFill>
                <a:latin typeface="Cambria"/>
              </a:rPr>
              <a:t>Arrivals stay near peak from 10am to 8pm, and the median visit lasts 2.6 hours</a:t>
            </a:r>
          </a:p>
        </p:txBody>
      </p:sp>
      <p:sp>
        <p:nvSpPr>
          <p:cNvPr id="3" name="TextBox 2"/>
          <p:cNvSpPr txBox="1"/>
          <p:nvPr/>
        </p:nvSpPr>
        <p:spPr>
          <a:xfrm>
            <a:off x="548640" y="1261872"/>
            <a:ext cx="11064240" cy="365760"/>
          </a:xfrm>
          <a:prstGeom prst="rect">
            <a:avLst/>
          </a:prstGeom>
          <a:noFill/>
        </p:spPr>
        <p:txBody>
          <a:bodyPr wrap="square" anchor="t" lIns="0" rIns="0" tIns="0" bIns="0">
            <a:spAutoFit/>
          </a:bodyPr>
          <a:lstStyle/>
          <a:p>
            <a:pPr algn="l">
              <a:spcAft>
                <a:spcPts val="600"/>
              </a:spcAft>
            </a:pPr>
            <a:r>
              <a:rPr sz="1400" b="0">
                <a:solidFill>
                  <a:srgbClr val="5A5F66"/>
                </a:solidFill>
                <a:latin typeface="Calibri"/>
              </a:rPr>
              <a:t>Weighted share of daily arrivals by hour (visits with a recorded arrival time, 98.7% of records)</a:t>
            </a:r>
          </a:p>
        </p:txBody>
      </p:sp>
      <p:graphicFrame>
        <p:nvGraphicFramePr>
          <p:cNvPr id="4" name="Chart 3"/>
          <p:cNvGraphicFramePr>
            <a:graphicFrameLocks noGrp="1"/>
          </p:cNvGraphicFramePr>
          <p:nvPr/>
        </p:nvGraphicFramePr>
        <p:xfrm>
          <a:off x="457200" y="1783080"/>
          <a:ext cx="7680960" cy="4663440"/>
        </p:xfrm>
        <a:graphic>
          <a:graphicData uri="http://schemas.openxmlformats.org/drawingml/2006/chart">
            <c:chart xmlns:c="http://schemas.openxmlformats.org/drawingml/2006/chart" r:id="rId2"/>
          </a:graphicData>
        </a:graphic>
      </p:graphicFrame>
      <p:sp>
        <p:nvSpPr>
          <p:cNvPr id="5" name="TextBox 4"/>
          <p:cNvSpPr txBox="1"/>
          <p:nvPr/>
        </p:nvSpPr>
        <p:spPr>
          <a:xfrm>
            <a:off x="8595360" y="1920240"/>
            <a:ext cx="3108960" cy="685800"/>
          </a:xfrm>
          <a:prstGeom prst="rect">
            <a:avLst/>
          </a:prstGeom>
          <a:noFill/>
        </p:spPr>
        <p:txBody>
          <a:bodyPr wrap="square" anchor="t" lIns="0" rIns="0" tIns="0" bIns="0">
            <a:spAutoFit/>
          </a:bodyPr>
          <a:lstStyle/>
          <a:p>
            <a:pPr algn="l">
              <a:spcAft>
                <a:spcPts val="600"/>
              </a:spcAft>
            </a:pPr>
            <a:r>
              <a:rPr sz="3800" b="1">
                <a:solidFill>
                  <a:srgbClr val="16324F"/>
                </a:solidFill>
                <a:latin typeface="Cambria"/>
              </a:rPr>
              <a:t>154 min</a:t>
            </a:r>
          </a:p>
        </p:txBody>
      </p:sp>
      <p:sp>
        <p:nvSpPr>
          <p:cNvPr id="6" name="TextBox 5"/>
          <p:cNvSpPr txBox="1"/>
          <p:nvPr/>
        </p:nvSpPr>
        <p:spPr>
          <a:xfrm>
            <a:off x="8595360" y="2578608"/>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median length of visit (raw mean 214 min; 210 with values capped at the 99.5th percentile)</a:t>
            </a:r>
          </a:p>
        </p:txBody>
      </p:sp>
      <p:sp>
        <p:nvSpPr>
          <p:cNvPr id="7" name="TextBox 6"/>
          <p:cNvSpPr txBox="1"/>
          <p:nvPr/>
        </p:nvSpPr>
        <p:spPr>
          <a:xfrm>
            <a:off x="8595360" y="3520440"/>
            <a:ext cx="3108960" cy="685800"/>
          </a:xfrm>
          <a:prstGeom prst="rect">
            <a:avLst/>
          </a:prstGeom>
          <a:noFill/>
        </p:spPr>
        <p:txBody>
          <a:bodyPr wrap="square" anchor="t" lIns="0" rIns="0" tIns="0" bIns="0">
            <a:spAutoFit/>
          </a:bodyPr>
          <a:lstStyle/>
          <a:p>
            <a:pPr algn="l">
              <a:spcAft>
                <a:spcPts val="600"/>
              </a:spcAft>
            </a:pPr>
            <a:r>
              <a:rPr sz="3800" b="1">
                <a:solidFill>
                  <a:srgbClr val="16324F"/>
                </a:solidFill>
                <a:latin typeface="Cambria"/>
              </a:rPr>
              <a:t>+25%</a:t>
            </a:r>
          </a:p>
        </p:txBody>
      </p:sp>
      <p:sp>
        <p:nvSpPr>
          <p:cNvPr id="8" name="TextBox 7"/>
          <p:cNvSpPr txBox="1"/>
          <p:nvPr/>
        </p:nvSpPr>
        <p:spPr>
          <a:xfrm>
            <a:off x="8595360" y="4178808"/>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visits per day on Mondays vs Sundays (432,000 vs 346,000)</a:t>
            </a:r>
          </a:p>
        </p:txBody>
      </p:sp>
      <p:sp>
        <p:nvSpPr>
          <p:cNvPr id="9" name="TextBox 8"/>
          <p:cNvSpPr txBox="1"/>
          <p:nvPr/>
        </p:nvSpPr>
        <p:spPr>
          <a:xfrm>
            <a:off x="8595360" y="4892040"/>
            <a:ext cx="3108960" cy="1554480"/>
          </a:xfrm>
          <a:prstGeom prst="rect">
            <a:avLst/>
          </a:prstGeom>
          <a:noFill/>
        </p:spPr>
        <p:txBody>
          <a:bodyPr wrap="square" anchor="t" lIns="0" rIns="0" tIns="0" bIns="0">
            <a:spAutoFit/>
          </a:bodyPr>
          <a:lstStyle/>
          <a:p>
            <a:pPr algn="l">
              <a:spcAft>
                <a:spcPts val="600"/>
              </a:spcAft>
            </a:pPr>
            <a:r>
              <a:rPr sz="1300" b="0">
                <a:solidFill>
                  <a:srgbClr val="1A1A1A"/>
                </a:solidFill>
                <a:latin typeface="Calibri"/>
              </a:rPr>
              <a:t>Because patients stay about 2.6 hours, the number in the department likely peaks after arrivals do. Staffing plans should weigh time in the department, not arrivals alone.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nchor="t" lIns="0" rIns="0" tIns="0" bIns="0">
            <a:spAutoFit/>
          </a:bodyPr>
          <a:lstStyle/>
          <a:p>
            <a:pPr algn="l">
              <a:spcAft>
                <a:spcPts val="600"/>
              </a:spcAft>
            </a:pPr>
            <a:r>
              <a:rPr sz="2600" b="1">
                <a:solidFill>
                  <a:srgbClr val="16324F"/>
                </a:solidFill>
                <a:latin typeface="Cambria"/>
              </a:rPr>
              <a:t>Medicaid is the most common expected payer, and the expected payer varies sharply with age</a:t>
            </a:r>
          </a:p>
        </p:txBody>
      </p:sp>
      <p:sp>
        <p:nvSpPr>
          <p:cNvPr id="3" name="TextBox 2"/>
          <p:cNvSpPr txBox="1"/>
          <p:nvPr/>
        </p:nvSpPr>
        <p:spPr>
          <a:xfrm>
            <a:off x="548640" y="1261872"/>
            <a:ext cx="11064240" cy="365760"/>
          </a:xfrm>
          <a:prstGeom prst="rect">
            <a:avLst/>
          </a:prstGeom>
          <a:noFill/>
        </p:spPr>
        <p:txBody>
          <a:bodyPr wrap="square" anchor="t" lIns="0" rIns="0" tIns="0" bIns="0">
            <a:spAutoFit/>
          </a:bodyPr>
          <a:lstStyle/>
          <a:p>
            <a:pPr algn="l">
              <a:spcAft>
                <a:spcPts val="600"/>
              </a:spcAft>
            </a:pPr>
            <a:r>
              <a:rPr sz="1400" b="0">
                <a:solidFill>
                  <a:srgbClr val="5A5F66"/>
                </a:solidFill>
                <a:latin typeface="Calibri"/>
              </a:rPr>
              <a:t>Primary expected payer by age group, weighted % of visits with a known expected payer (89.2% of visits)</a:t>
            </a:r>
          </a:p>
        </p:txBody>
      </p:sp>
      <p:graphicFrame>
        <p:nvGraphicFramePr>
          <p:cNvPr id="4" name="Chart 3"/>
          <p:cNvGraphicFramePr>
            <a:graphicFrameLocks noGrp="1"/>
          </p:cNvGraphicFramePr>
          <p:nvPr/>
        </p:nvGraphicFramePr>
        <p:xfrm>
          <a:off x="457200" y="1783080"/>
          <a:ext cx="7680960" cy="4754880"/>
        </p:xfrm>
        <a:graphic>
          <a:graphicData uri="http://schemas.openxmlformats.org/drawingml/2006/chart">
            <c:chart xmlns:c="http://schemas.openxmlformats.org/drawingml/2006/chart" r:id="rId2"/>
          </a:graphicData>
        </a:graphic>
      </p:graphicFrame>
      <p:sp>
        <p:nvSpPr>
          <p:cNvPr id="5" name="TextBox 4"/>
          <p:cNvSpPr txBox="1"/>
          <p:nvPr/>
        </p:nvSpPr>
        <p:spPr>
          <a:xfrm>
            <a:off x="8595360" y="1920240"/>
            <a:ext cx="3108960" cy="685800"/>
          </a:xfrm>
          <a:prstGeom prst="rect">
            <a:avLst/>
          </a:prstGeom>
          <a:noFill/>
        </p:spPr>
        <p:txBody>
          <a:bodyPr wrap="square" anchor="t" lIns="0" rIns="0" tIns="0" bIns="0">
            <a:spAutoFit/>
          </a:bodyPr>
          <a:lstStyle/>
          <a:p>
            <a:pPr algn="l">
              <a:spcAft>
                <a:spcPts val="600"/>
              </a:spcAft>
            </a:pPr>
            <a:r>
              <a:rPr sz="3800" b="1">
                <a:solidFill>
                  <a:srgbClr val="16324F"/>
                </a:solidFill>
                <a:latin typeface="Cambria"/>
              </a:rPr>
              <a:t>48.9%</a:t>
            </a:r>
          </a:p>
        </p:txBody>
      </p:sp>
      <p:sp>
        <p:nvSpPr>
          <p:cNvPr id="6" name="TextBox 5"/>
          <p:cNvSpPr txBox="1"/>
          <p:nvPr/>
        </p:nvSpPr>
        <p:spPr>
          <a:xfrm>
            <a:off x="8595360" y="2578608"/>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of all visits list Medicaid or Medicare as primary expected payer (54.8% of visits with a known payer)</a:t>
            </a:r>
          </a:p>
        </p:txBody>
      </p:sp>
      <p:sp>
        <p:nvSpPr>
          <p:cNvPr id="7" name="TextBox 6"/>
          <p:cNvSpPr txBox="1"/>
          <p:nvPr/>
        </p:nvSpPr>
        <p:spPr>
          <a:xfrm>
            <a:off x="8595360" y="3474720"/>
            <a:ext cx="3108960" cy="685800"/>
          </a:xfrm>
          <a:prstGeom prst="rect">
            <a:avLst/>
          </a:prstGeom>
          <a:noFill/>
        </p:spPr>
        <p:txBody>
          <a:bodyPr wrap="square" anchor="t" lIns="0" rIns="0" tIns="0" bIns="0">
            <a:spAutoFit/>
          </a:bodyPr>
          <a:lstStyle/>
          <a:p>
            <a:pPr algn="l">
              <a:spcAft>
                <a:spcPts val="600"/>
              </a:spcAft>
            </a:pPr>
            <a:r>
              <a:rPr sz="3800" b="1">
                <a:solidFill>
                  <a:srgbClr val="EB6834"/>
                </a:solidFill>
                <a:latin typeface="Cambria"/>
              </a:rPr>
              <a:t>11.0%</a:t>
            </a:r>
          </a:p>
        </p:txBody>
      </p:sp>
      <p:sp>
        <p:nvSpPr>
          <p:cNvPr id="8" name="TextBox 7"/>
          <p:cNvSpPr txBox="1"/>
          <p:nvPr/>
        </p:nvSpPr>
        <p:spPr>
          <a:xfrm>
            <a:off x="8595360" y="4133087"/>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self-pay or no charge (visits with a known payer)</a:t>
            </a:r>
          </a:p>
        </p:txBody>
      </p:sp>
      <p:sp>
        <p:nvSpPr>
          <p:cNvPr id="9" name="TextBox 8"/>
          <p:cNvSpPr txBox="1"/>
          <p:nvPr/>
        </p:nvSpPr>
        <p:spPr>
          <a:xfrm>
            <a:off x="8595360" y="4800600"/>
            <a:ext cx="3108960" cy="1645920"/>
          </a:xfrm>
          <a:prstGeom prst="rect">
            <a:avLst/>
          </a:prstGeom>
          <a:noFill/>
        </p:spPr>
        <p:txBody>
          <a:bodyPr wrap="square" anchor="t" lIns="0" rIns="0" tIns="0" bIns="0">
            <a:spAutoFit/>
          </a:bodyPr>
          <a:lstStyle/>
          <a:p>
            <a:pPr algn="l">
              <a:spcAft>
                <a:spcPts val="600"/>
              </a:spcAft>
            </a:pPr>
            <a:r>
              <a:rPr sz="1300" b="0">
                <a:solidFill>
                  <a:srgbClr val="1A1A1A"/>
                </a:solidFill>
                <a:latin typeface="Calibri"/>
              </a:rPr>
              <a:t>Expected payer is not revenue. If public programs pay less per visit than private insurers, this mix limits per-visit revenue; the actual effect depends on contracts and collections.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nchor="t" lIns="0" rIns="0" tIns="0" bIns="0">
            <a:spAutoFit/>
          </a:bodyPr>
          <a:lstStyle/>
          <a:p>
            <a:pPr algn="l">
              <a:spcAft>
                <a:spcPts val="600"/>
              </a:spcAft>
            </a:pPr>
            <a:r>
              <a:rPr sz="2600" b="1">
                <a:solidFill>
                  <a:srgbClr val="16324F"/>
                </a:solidFill>
                <a:latin typeface="Cambria"/>
              </a:rPr>
              <a:t>Nearly half of visits involve a chronic condition, and medication use rises with it</a:t>
            </a:r>
          </a:p>
        </p:txBody>
      </p:sp>
      <p:sp>
        <p:nvSpPr>
          <p:cNvPr id="3" name="TextBox 2"/>
          <p:cNvSpPr txBox="1"/>
          <p:nvPr/>
        </p:nvSpPr>
        <p:spPr>
          <a:xfrm>
            <a:off x="548640" y="1261872"/>
            <a:ext cx="11064240" cy="365760"/>
          </a:xfrm>
          <a:prstGeom prst="rect">
            <a:avLst/>
          </a:prstGeom>
          <a:noFill/>
        </p:spPr>
        <p:txBody>
          <a:bodyPr wrap="square" anchor="t" lIns="0" rIns="0" tIns="0" bIns="0">
            <a:spAutoFit/>
          </a:bodyPr>
          <a:lstStyle/>
          <a:p>
            <a:pPr algn="l">
              <a:spcAft>
                <a:spcPts val="600"/>
              </a:spcAft>
            </a:pPr>
            <a:r>
              <a:rPr sz="1400" b="0">
                <a:solidFill>
                  <a:srgbClr val="5A5F66"/>
                </a:solidFill>
                <a:latin typeface="Calibri"/>
              </a:rPr>
              <a:t>Weighted % of visits with the chronic-condition section completed (98.4% of records)</a:t>
            </a:r>
          </a:p>
        </p:txBody>
      </p:sp>
      <p:graphicFrame>
        <p:nvGraphicFramePr>
          <p:cNvPr id="4" name="Chart 3"/>
          <p:cNvGraphicFramePr>
            <a:graphicFrameLocks noGrp="1"/>
          </p:cNvGraphicFramePr>
          <p:nvPr/>
        </p:nvGraphicFramePr>
        <p:xfrm>
          <a:off x="457200" y="1783080"/>
          <a:ext cx="7680960" cy="4663440"/>
        </p:xfrm>
        <a:graphic>
          <a:graphicData uri="http://schemas.openxmlformats.org/drawingml/2006/chart">
            <c:chart xmlns:c="http://schemas.openxmlformats.org/drawingml/2006/chart" r:id="rId2"/>
          </a:graphicData>
        </a:graphic>
      </p:graphicFrame>
      <p:sp>
        <p:nvSpPr>
          <p:cNvPr id="5" name="TextBox 4"/>
          <p:cNvSpPr txBox="1"/>
          <p:nvPr/>
        </p:nvSpPr>
        <p:spPr>
          <a:xfrm>
            <a:off x="8595360" y="1920240"/>
            <a:ext cx="3108960" cy="685800"/>
          </a:xfrm>
          <a:prstGeom prst="rect">
            <a:avLst/>
          </a:prstGeom>
          <a:noFill/>
        </p:spPr>
        <p:txBody>
          <a:bodyPr wrap="square" anchor="t" lIns="0" rIns="0" tIns="0" bIns="0">
            <a:spAutoFit/>
          </a:bodyPr>
          <a:lstStyle/>
          <a:p>
            <a:pPr algn="l">
              <a:spcAft>
                <a:spcPts val="600"/>
              </a:spcAft>
            </a:pPr>
            <a:r>
              <a:rPr sz="3800" b="1">
                <a:solidFill>
                  <a:srgbClr val="16324F"/>
                </a:solidFill>
                <a:latin typeface="Cambria"/>
              </a:rPr>
              <a:t>47.6%</a:t>
            </a:r>
          </a:p>
        </p:txBody>
      </p:sp>
      <p:sp>
        <p:nvSpPr>
          <p:cNvPr id="6" name="TextBox 5"/>
          <p:cNvSpPr txBox="1"/>
          <p:nvPr/>
        </p:nvSpPr>
        <p:spPr>
          <a:xfrm>
            <a:off x="8595360" y="2578608"/>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of visits with the section completed record at least one chronic condition (90% at ages 75+)</a:t>
            </a:r>
          </a:p>
        </p:txBody>
      </p:sp>
      <p:sp>
        <p:nvSpPr>
          <p:cNvPr id="7" name="TextBox 6"/>
          <p:cNvSpPr txBox="1"/>
          <p:nvPr/>
        </p:nvSpPr>
        <p:spPr>
          <a:xfrm>
            <a:off x="8595360" y="3429000"/>
            <a:ext cx="3108960" cy="685800"/>
          </a:xfrm>
          <a:prstGeom prst="rect">
            <a:avLst/>
          </a:prstGeom>
          <a:noFill/>
        </p:spPr>
        <p:txBody>
          <a:bodyPr wrap="square" anchor="t" lIns="0" rIns="0" tIns="0" bIns="0">
            <a:spAutoFit/>
          </a:bodyPr>
          <a:lstStyle/>
          <a:p>
            <a:pPr algn="l">
              <a:spcAft>
                <a:spcPts val="600"/>
              </a:spcAft>
            </a:pPr>
            <a:r>
              <a:rPr sz="3800" b="1">
                <a:solidFill>
                  <a:srgbClr val="16324F"/>
                </a:solidFill>
                <a:latin typeface="Cambria"/>
              </a:rPr>
              <a:t>2.0 → 3.8</a:t>
            </a:r>
          </a:p>
        </p:txBody>
      </p:sp>
      <p:sp>
        <p:nvSpPr>
          <p:cNvPr id="8" name="TextBox 7"/>
          <p:cNvSpPr txBox="1"/>
          <p:nvPr/>
        </p:nvSpPr>
        <p:spPr>
          <a:xfrm>
            <a:off x="8595360" y="4087368"/>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mean medications per visit: no recorded chronic condition vs three or more</a:t>
            </a:r>
          </a:p>
        </p:txBody>
      </p:sp>
      <p:sp>
        <p:nvSpPr>
          <p:cNvPr id="9" name="TextBox 8"/>
          <p:cNvSpPr txBox="1"/>
          <p:nvPr/>
        </p:nvSpPr>
        <p:spPr>
          <a:xfrm>
            <a:off x="8595360" y="4937760"/>
            <a:ext cx="3108960" cy="1371600"/>
          </a:xfrm>
          <a:prstGeom prst="rect">
            <a:avLst/>
          </a:prstGeom>
          <a:noFill/>
        </p:spPr>
        <p:txBody>
          <a:bodyPr wrap="square" anchor="t" lIns="0" rIns="0" tIns="0" bIns="0">
            <a:spAutoFit/>
          </a:bodyPr>
          <a:lstStyle/>
          <a:p>
            <a:pPr algn="l">
              <a:spcAft>
                <a:spcPts val="600"/>
              </a:spcAft>
            </a:pPr>
            <a:r>
              <a:rPr sz="1300" b="0">
                <a:solidFill>
                  <a:srgbClr val="1A1A1A"/>
                </a:solidFill>
                <a:latin typeface="Calibri"/>
              </a:rPr>
              <a:t>Diabetes is coded in three checkboxes: type 2 alone is 4.7%, but any diabetes (highlighted) is 11.1%, second only to hypertension.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324F"/>
        </a:solidFill>
        <a:effectLst/>
      </p:bgPr>
    </p:bg>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nchor="t" lIns="0" rIns="0" tIns="0" bIns="0">
            <a:spAutoFit/>
          </a:bodyPr>
          <a:lstStyle/>
          <a:p>
            <a:pPr algn="l">
              <a:spcAft>
                <a:spcPts val="600"/>
              </a:spcAft>
            </a:pPr>
            <a:r>
              <a:rPr sz="2600" b="1">
                <a:solidFill>
                  <a:srgbClr val="FFFFFF"/>
                </a:solidFill>
                <a:latin typeface="Cambria"/>
              </a:rPr>
              <a:t>Triage level tracks admission closely; recorded waits differ little beyond level 1</a:t>
            </a:r>
          </a:p>
        </p:txBody>
      </p:sp>
      <p:sp>
        <p:nvSpPr>
          <p:cNvPr id="3" name="TextBox 2"/>
          <p:cNvSpPr txBox="1"/>
          <p:nvPr/>
        </p:nvSpPr>
        <p:spPr>
          <a:xfrm>
            <a:off x="548640" y="1261872"/>
            <a:ext cx="11064240" cy="365760"/>
          </a:xfrm>
          <a:prstGeom prst="rect">
            <a:avLst/>
          </a:prstGeom>
          <a:noFill/>
        </p:spPr>
        <p:txBody>
          <a:bodyPr wrap="square" anchor="t" lIns="0" rIns="0" tIns="0" bIns="0">
            <a:spAutoFit/>
          </a:bodyPr>
          <a:lstStyle/>
          <a:p>
            <a:pPr algn="l">
              <a:spcAft>
                <a:spcPts val="600"/>
              </a:spcAft>
            </a:pPr>
            <a:r>
              <a:rPr sz="1400" b="0">
                <a:solidFill>
                  <a:srgbClr val="CADCFC"/>
                </a:solidFill>
                <a:latin typeface="Calibri"/>
              </a:rPr>
              <a:t>Weighted, visits with triage levels 1-5 (1 = immediate, 5 = nonurgent)</a:t>
            </a:r>
          </a:p>
        </p:txBody>
      </p:sp>
      <p:sp>
        <p:nvSpPr>
          <p:cNvPr id="4" name="Rounded Rectangle 3"/>
          <p:cNvSpPr/>
          <p:nvPr/>
        </p:nvSpPr>
        <p:spPr>
          <a:xfrm>
            <a:off x="457200" y="1783080"/>
            <a:ext cx="3703320" cy="3200400"/>
          </a:xfrm>
          <a:prstGeom prst="roundRect">
            <a:avLst>
              <a:gd name="adj" fmla="val 6000"/>
            </a:avLst>
          </a:prstGeom>
          <a:solidFill>
            <a:srgbClr val="2246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291840" cy="365760"/>
          </a:xfrm>
          <a:prstGeom prst="rect">
            <a:avLst/>
          </a:prstGeom>
          <a:noFill/>
        </p:spPr>
        <p:txBody>
          <a:bodyPr wrap="square" anchor="t" lIns="0" rIns="0" tIns="0" bIns="0">
            <a:spAutoFit/>
          </a:bodyPr>
          <a:lstStyle/>
          <a:p>
            <a:pPr algn="l">
              <a:spcAft>
                <a:spcPts val="600"/>
              </a:spcAft>
            </a:pPr>
            <a:r>
              <a:rPr sz="1300" b="1">
                <a:solidFill>
                  <a:srgbClr val="FFFFFF"/>
                </a:solidFill>
                <a:latin typeface="Calibri"/>
              </a:rPr>
              <a:t>Admitted to hospital (%)</a:t>
            </a:r>
          </a:p>
        </p:txBody>
      </p:sp>
      <p:graphicFrame>
        <p:nvGraphicFramePr>
          <p:cNvPr id="6" name="Chart 5"/>
          <p:cNvGraphicFramePr>
            <a:graphicFrameLocks noGrp="1"/>
          </p:cNvGraphicFramePr>
          <p:nvPr/>
        </p:nvGraphicFramePr>
        <p:xfrm>
          <a:off x="548640" y="2240280"/>
          <a:ext cx="3520440" cy="2651760"/>
        </p:xfrm>
        <a:graphic>
          <a:graphicData uri="http://schemas.openxmlformats.org/drawingml/2006/chart">
            <c:chart xmlns:c="http://schemas.openxmlformats.org/drawingml/2006/chart" r:id="rId2"/>
          </a:graphicData>
        </a:graphic>
      </p:graphicFrame>
      <p:sp>
        <p:nvSpPr>
          <p:cNvPr id="7" name="Rounded Rectangle 6"/>
          <p:cNvSpPr/>
          <p:nvPr/>
        </p:nvSpPr>
        <p:spPr>
          <a:xfrm>
            <a:off x="4343400" y="1783080"/>
            <a:ext cx="3703320" cy="3200400"/>
          </a:xfrm>
          <a:prstGeom prst="roundRect">
            <a:avLst>
              <a:gd name="adj" fmla="val 6000"/>
            </a:avLst>
          </a:prstGeom>
          <a:solidFill>
            <a:srgbClr val="2246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01952"/>
            <a:ext cx="3291840" cy="365760"/>
          </a:xfrm>
          <a:prstGeom prst="rect">
            <a:avLst/>
          </a:prstGeom>
          <a:noFill/>
        </p:spPr>
        <p:txBody>
          <a:bodyPr wrap="square" anchor="t" lIns="0" rIns="0" tIns="0" bIns="0">
            <a:spAutoFit/>
          </a:bodyPr>
          <a:lstStyle/>
          <a:p>
            <a:pPr algn="l">
              <a:spcAft>
                <a:spcPts val="600"/>
              </a:spcAft>
            </a:pPr>
            <a:r>
              <a:rPr sz="1300" b="1">
                <a:solidFill>
                  <a:srgbClr val="FFFFFF"/>
                </a:solidFill>
                <a:latin typeface="Calibri"/>
              </a:rPr>
              <a:t>Median recorded wait to see a provider (min)</a:t>
            </a:r>
          </a:p>
        </p:txBody>
      </p:sp>
      <p:graphicFrame>
        <p:nvGraphicFramePr>
          <p:cNvPr id="9" name="Chart 8"/>
          <p:cNvGraphicFramePr>
            <a:graphicFrameLocks noGrp="1"/>
          </p:cNvGraphicFramePr>
          <p:nvPr/>
        </p:nvGraphicFramePr>
        <p:xfrm>
          <a:off x="4434840" y="2240280"/>
          <a:ext cx="3520440" cy="2651760"/>
        </p:xfrm>
        <a:graphic>
          <a:graphicData uri="http://schemas.openxmlformats.org/drawingml/2006/chart">
            <c:chart xmlns:c="http://schemas.openxmlformats.org/drawingml/2006/chart" r:id="rId3"/>
          </a:graphicData>
        </a:graphic>
      </p:graphicFrame>
      <p:sp>
        <p:nvSpPr>
          <p:cNvPr id="10" name="TextBox 9"/>
          <p:cNvSpPr txBox="1"/>
          <p:nvPr/>
        </p:nvSpPr>
        <p:spPr>
          <a:xfrm>
            <a:off x="8366760" y="1828800"/>
            <a:ext cx="3337560" cy="3200400"/>
          </a:xfrm>
          <a:prstGeom prst="rect">
            <a:avLst/>
          </a:prstGeom>
          <a:noFill/>
        </p:spPr>
        <p:txBody>
          <a:bodyPr wrap="square" anchor="t" lIns="0" rIns="0" tIns="0" bIns="0">
            <a:spAutoFit/>
          </a:bodyPr>
          <a:lstStyle/>
          <a:p>
            <a:pPr algn="l">
              <a:spcAft>
                <a:spcPts val="900"/>
              </a:spcAft>
            </a:pPr>
            <a:r>
              <a:rPr sz="1400" b="1">
                <a:solidFill>
                  <a:srgbClr val="FFFFFF"/>
                </a:solidFill>
                <a:latin typeface="Calibri"/>
              </a:rPr>
              <a:t>Reading these results</a:t>
            </a:r>
          </a:p>
          <a:p>
            <a:pPr algn="l">
              <a:spcAft>
                <a:spcPts val="900"/>
              </a:spcAft>
            </a:pPr>
            <a:r>
              <a:rPr sz="1300" b="0">
                <a:solidFill>
                  <a:srgbClr val="CADCFC"/>
                </a:solidFill>
                <a:latin typeface="Calibri"/>
              </a:rPr>
              <a:t>Descriptive, not causal: case mix and hospital differences are not controlled.</a:t>
            </a:r>
          </a:p>
          <a:p>
            <a:pPr algn="l">
              <a:spcAft>
                <a:spcPts val="900"/>
              </a:spcAft>
            </a:pPr>
            <a:r>
              <a:rPr sz="1300" b="0">
                <a:solidFill>
                  <a:srgbClr val="CADCFC"/>
                </a:solidFill>
                <a:latin typeface="Calibri"/>
              </a:rPr>
              <a:t>Wait time is blank for 15.2% of sampled visits and not applicable (not seen by a provider) for 3.4%, so 18.6% have no usable wait; missingness is higher where triage was not recorded and in the Northeast and West.</a:t>
            </a:r>
          </a:p>
          <a:p>
            <a:pPr algn="l">
              <a:spcAft>
                <a:spcPts val="900"/>
              </a:spcAft>
            </a:pPr>
            <a:r>
              <a:rPr sz="1300" b="0">
                <a:solidFill>
                  <a:srgbClr val="CADCFC"/>
                </a:solidFill>
                <a:latin typeface="Calibri"/>
              </a:rPr>
              <a:t>Weighted point estimates without survey-design standard errors.</a:t>
            </a:r>
          </a:p>
        </p:txBody>
      </p:sp>
      <p:sp>
        <p:nvSpPr>
          <p:cNvPr id="11" name="TextBox 10"/>
          <p:cNvSpPr txBox="1"/>
          <p:nvPr/>
        </p:nvSpPr>
        <p:spPr>
          <a:xfrm>
            <a:off x="548640" y="5230368"/>
            <a:ext cx="11064240" cy="914400"/>
          </a:xfrm>
          <a:prstGeom prst="rect">
            <a:avLst/>
          </a:prstGeom>
          <a:noFill/>
        </p:spPr>
        <p:txBody>
          <a:bodyPr wrap="square" anchor="t" lIns="0" rIns="0" tIns="0" bIns="0">
            <a:spAutoFit/>
          </a:bodyPr>
          <a:lstStyle/>
          <a:p>
            <a:pPr algn="l">
              <a:spcAft>
                <a:spcPts val="600"/>
              </a:spcAft>
            </a:pPr>
            <a:r>
              <a:rPr sz="1500" b="1">
                <a:solidFill>
                  <a:srgbClr val="FFFFFF"/>
                </a:solidFill>
                <a:latin typeface="Calibri"/>
              </a:rPr>
              <a:t>A question for hospital managers</a:t>
            </a:r>
          </a:p>
          <a:p>
            <a:pPr algn="l">
              <a:spcAft>
                <a:spcPts val="600"/>
              </a:spcAft>
            </a:pPr>
            <a:r>
              <a:rPr sz="1400" b="0">
                <a:solidFill>
                  <a:srgbClr val="CADCFC"/>
                </a:solidFill>
                <a:latin typeface="Calibri"/>
              </a:rPr>
              <a:t>Emergent (level 2) and nonurgent (level 5) patients have the same recorded median wait, 18 minutes. Do local timestamp data show the same pattern, and if so, where does the delay occur?</a:t>
            </a:r>
          </a:p>
        </p:txBody>
      </p:sp>
      <p:sp>
        <p:nvSpPr>
          <p:cNvPr id="12" name="TextBox 11"/>
          <p:cNvSpPr txBox="1"/>
          <p:nvPr/>
        </p:nvSpPr>
        <p:spPr>
          <a:xfrm>
            <a:off x="548640" y="6355080"/>
            <a:ext cx="11064240" cy="274320"/>
          </a:xfrm>
          <a:prstGeom prst="rect">
            <a:avLst/>
          </a:prstGeom>
          <a:noFill/>
        </p:spPr>
        <p:txBody>
          <a:bodyPr wrap="square" anchor="t" lIns="0" rIns="0" tIns="0" bIns="0">
            <a:spAutoFit/>
          </a:bodyPr>
          <a:lstStyle/>
          <a:p>
            <a:pPr algn="l">
              <a:spcAft>
                <a:spcPts val="600"/>
              </a:spcAft>
            </a:pPr>
            <a:r>
              <a:rPr sz="1000" b="0">
                <a:solidFill>
                  <a:srgbClr val="CADCFC"/>
                </a:solidFill>
                <a:latin typeface="Calibri"/>
              </a:rPr>
              <a:t>AI use (course requirement): analysis code and slide drafts produced with an AI coding assistant; every result was run on the Yale cluster and reviewed by the group.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