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daily arrivals</c:v>
                </c:pt>
              </c:strCache>
            </c:strRef>
          </c:tx>
          <c:spPr>
            <a:solidFill>
              <a:srgbClr val="2A78D6"/>
            </a:solidFill>
          </c:spPr>
          <c:dPt>
            <c:idx val="18"/>
            <c:spPr>
              <a:solidFill>
                <a:srgbClr val="EB6834"/>
              </a:solidFill>
            </c:spPr>
          </c:dPt>
          <c:dLbls>
            <c:dLbl>
              <c:idx val="18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EB6834"/>
                        </a:solidFill>
                        <a:latin typeface="Calibri"/>
                      </a:rPr>
                      <a:t>6pm peak: 6.3%</a:t>
                    </a:r>
                  </a:p>
                </c:rich>
              </c:tx>
              <c:txPr>
                <a:bodyPr/>
                <a:lstStyle/>
                <a:p>
                  <a:pPr>
                    <a:defRPr sz="1100" b="1">
                      <a:solidFill>
                        <a:srgbClr val="EB6834"/>
                      </a:solidFill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2.2</c:v>
                </c:pt>
                <c:pt idx="1">
                  <c:v>1.83</c:v>
                </c:pt>
                <c:pt idx="2">
                  <c:v>1.62</c:v>
                </c:pt>
                <c:pt idx="3">
                  <c:v>1.42</c:v>
                </c:pt>
                <c:pt idx="4">
                  <c:v>1.36</c:v>
                </c:pt>
                <c:pt idx="5">
                  <c:v>1.34</c:v>
                </c:pt>
                <c:pt idx="6">
                  <c:v>1.76</c:v>
                </c:pt>
                <c:pt idx="7">
                  <c:v>2.64</c:v>
                </c:pt>
                <c:pt idx="8">
                  <c:v>3.59</c:v>
                </c:pt>
                <c:pt idx="9">
                  <c:v>5.06</c:v>
                </c:pt>
                <c:pt idx="10">
                  <c:v>6.05</c:v>
                </c:pt>
                <c:pt idx="11">
                  <c:v>5.75</c:v>
                </c:pt>
                <c:pt idx="12">
                  <c:v>6.08</c:v>
                </c:pt>
                <c:pt idx="13">
                  <c:v>5.66</c:v>
                </c:pt>
                <c:pt idx="14">
                  <c:v>5.8</c:v>
                </c:pt>
                <c:pt idx="15">
                  <c:v>5.61</c:v>
                </c:pt>
                <c:pt idx="16">
                  <c:v>5.65</c:v>
                </c:pt>
                <c:pt idx="17">
                  <c:v>5.77</c:v>
                </c:pt>
                <c:pt idx="18">
                  <c:v>6.34</c:v>
                </c:pt>
                <c:pt idx="19">
                  <c:v>5.9</c:v>
                </c:pt>
                <c:pt idx="20">
                  <c:v>5.46</c:v>
                </c:pt>
                <c:pt idx="21">
                  <c:v>5.0</c:v>
                </c:pt>
                <c:pt idx="22">
                  <c:v>4.64</c:v>
                </c:pt>
                <c:pt idx="23">
                  <c:v>3.46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100"/>
                  <a:t>Arrival hour (0 = midnight)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5"/>
          <c:min val="0.0"/>
        </c:scaling>
        <c:delete val="0"/>
        <c:axPos val="l"/>
        <c:majorGridlines>
          <c:spPr>
            <a:ln>
              <a:solidFill>
                <a:srgbClr val="E3E3E0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5F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Medicaid/CHIP</c:v>
                </c:pt>
              </c:strCache>
            </c:strRef>
          </c:tx>
          <c:spPr>
            <a:solidFill>
              <a:srgbClr val="2A78D6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65%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41%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35%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26%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6%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Under 15</c:v>
                </c:pt>
                <c:pt idx="1">
                  <c:v>15-24</c:v>
                </c:pt>
                <c:pt idx="2">
                  <c:v>25-44</c:v>
                </c:pt>
                <c:pt idx="3">
                  <c:v>45-64</c:v>
                </c:pt>
                <c:pt idx="4">
                  <c:v>65-74</c:v>
                </c:pt>
                <c:pt idx="5">
                  <c:v>75+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65.2</c:v>
                </c:pt>
                <c:pt idx="1">
                  <c:v>40.8</c:v>
                </c:pt>
                <c:pt idx="2">
                  <c:v>34.9</c:v>
                </c:pt>
                <c:pt idx="3">
                  <c:v>26.0</c:v>
                </c:pt>
                <c:pt idx="4">
                  <c:v>6.0</c:v>
                </c:pt>
                <c:pt idx="5">
                  <c:v>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</c:v>
                </c:pt>
              </c:strCache>
            </c:strRef>
          </c:tx>
          <c:spPr>
            <a:solidFill>
              <a:srgbClr val="EB6834"/>
            </a:solidFill>
            <a:ln>
              <a:solidFill>
                <a:srgbClr val="FFFFFF"/>
              </a:solidFill>
            </a:ln>
          </c:spPr>
          <c:cat>
            <c:strRef>
              <c:f>Sheet1!$A$2:$A$7</c:f>
              <c:strCache>
                <c:ptCount val="6"/>
                <c:pt idx="0">
                  <c:v>Under 15</c:v>
                </c:pt>
                <c:pt idx="1">
                  <c:v>15-24</c:v>
                </c:pt>
                <c:pt idx="2">
                  <c:v>25-44</c:v>
                </c:pt>
                <c:pt idx="3">
                  <c:v>45-64</c:v>
                </c:pt>
                <c:pt idx="4">
                  <c:v>65-74</c:v>
                </c:pt>
                <c:pt idx="5">
                  <c:v>75+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27.2</c:v>
                </c:pt>
                <c:pt idx="1">
                  <c:v>37.7</c:v>
                </c:pt>
                <c:pt idx="2">
                  <c:v>34.7</c:v>
                </c:pt>
                <c:pt idx="3">
                  <c:v>41.4</c:v>
                </c:pt>
                <c:pt idx="4">
                  <c:v>10.8</c:v>
                </c:pt>
                <c:pt idx="5">
                  <c:v>7.9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Medicare</c:v>
                </c:pt>
              </c:strCache>
            </c:strRef>
          </c:tx>
          <c:spPr>
            <a:solidFill>
              <a:srgbClr val="1BAF7A"/>
            </a:solidFill>
            <a:ln>
              <a:solidFill>
                <a:srgbClr val="FFFFFF"/>
              </a:solidFill>
            </a:ln>
          </c:spPr>
          <c:dLbls>
            <c:dLbl>
              <c:idx val="2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7%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18%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78%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100" b="1">
                        <a:solidFill>
                          <a:srgbClr val="FFFFFF"/>
                        </a:solidFill>
                        <a:latin typeface="Calibri"/>
                      </a:rPr>
                      <a:t>87%</a:t>
                    </a:r>
                  </a:p>
                </c:rich>
              </c:tx>
              <c:txPr>
                <a:bodyPr/>
                <a:lstStyle/>
                <a:p>
                  <a:pPr>
                    <a:defRPr sz="1000" b="1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Under 15</c:v>
                </c:pt>
                <c:pt idx="1">
                  <c:v>15-24</c:v>
                </c:pt>
                <c:pt idx="2">
                  <c:v>25-44</c:v>
                </c:pt>
                <c:pt idx="3">
                  <c:v>45-64</c:v>
                </c:pt>
                <c:pt idx="4">
                  <c:v>65-74</c:v>
                </c:pt>
                <c:pt idx="5">
                  <c:v>75+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1.1</c:v>
                </c:pt>
                <c:pt idx="1">
                  <c:v>2.5</c:v>
                </c:pt>
                <c:pt idx="2">
                  <c:v>6.8</c:v>
                </c:pt>
                <c:pt idx="3">
                  <c:v>18.0</c:v>
                </c:pt>
                <c:pt idx="4">
                  <c:v>78.3</c:v>
                </c:pt>
                <c:pt idx="5">
                  <c:v>86.9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Self-pay</c:v>
                </c:pt>
              </c:strCache>
            </c:strRef>
          </c:tx>
          <c:spPr>
            <a:solidFill>
              <a:srgbClr val="EDA100"/>
            </a:solidFill>
            <a:ln>
              <a:solidFill>
                <a:srgbClr val="FFFFFF"/>
              </a:solidFill>
            </a:ln>
          </c:spPr>
          <c:cat>
            <c:strRef>
              <c:f>Sheet1!$A$2:$A$7</c:f>
              <c:strCache>
                <c:ptCount val="6"/>
                <c:pt idx="0">
                  <c:v>Under 15</c:v>
                </c:pt>
                <c:pt idx="1">
                  <c:v>15-24</c:v>
                </c:pt>
                <c:pt idx="2">
                  <c:v>25-44</c:v>
                </c:pt>
                <c:pt idx="3">
                  <c:v>45-64</c:v>
                </c:pt>
                <c:pt idx="4">
                  <c:v>65-74</c:v>
                </c:pt>
                <c:pt idx="5">
                  <c:v>75+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4.7</c:v>
                </c:pt>
                <c:pt idx="1">
                  <c:v>14.2</c:v>
                </c:pt>
                <c:pt idx="2">
                  <c:v>17.5</c:v>
                </c:pt>
                <c:pt idx="3">
                  <c:v>9.5</c:v>
                </c:pt>
                <c:pt idx="4">
                  <c:v>2.3</c:v>
                </c:pt>
                <c:pt idx="5">
                  <c:v>0.4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E87BA4"/>
            </a:solidFill>
            <a:ln>
              <a:solidFill>
                <a:srgbClr val="FFFFFF"/>
              </a:solidFill>
            </a:ln>
          </c:spPr>
          <c:cat>
            <c:strRef>
              <c:f>Sheet1!$A$2:$A$7</c:f>
              <c:strCache>
                <c:ptCount val="6"/>
                <c:pt idx="0">
                  <c:v>Under 15</c:v>
                </c:pt>
                <c:pt idx="1">
                  <c:v>15-24</c:v>
                </c:pt>
                <c:pt idx="2">
                  <c:v>25-44</c:v>
                </c:pt>
                <c:pt idx="3">
                  <c:v>45-64</c:v>
                </c:pt>
                <c:pt idx="4">
                  <c:v>65-74</c:v>
                </c:pt>
                <c:pt idx="5">
                  <c:v>75+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1.9</c:v>
                </c:pt>
                <c:pt idx="1">
                  <c:v>4.7</c:v>
                </c:pt>
                <c:pt idx="2">
                  <c:v>6.1</c:v>
                </c:pt>
                <c:pt idx="3">
                  <c:v>5.2</c:v>
                </c:pt>
                <c:pt idx="4">
                  <c:v>2.6</c:v>
                </c:pt>
                <c:pt idx="5">
                  <c:v>1.5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3E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rgbClr val="5A5F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>
                <a:solidFill>
                  <a:srgbClr val="16324F"/>
                </a:solidFill>
              </a:rPr>
              <a:t>Most common chronic conditions (% of ED visits, weighted)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visits</c:v>
                </c:pt>
              </c:strCache>
            </c:strRef>
          </c:tx>
          <c:spPr>
            <a:solidFill>
              <a:srgbClr val="2A78D6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0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Hypertension</c:v>
                </c:pt>
                <c:pt idx="1">
                  <c:v>Any diabetes</c:v>
                </c:pt>
                <c:pt idx="2">
                  <c:v>Asthma</c:v>
                </c:pt>
                <c:pt idx="3">
                  <c:v>Depression</c:v>
                </c:pt>
                <c:pt idx="4">
                  <c:v>Hyperlipidemia</c:v>
                </c:pt>
                <c:pt idx="5">
                  <c:v>Substance abuse</c:v>
                </c:pt>
                <c:pt idx="6">
                  <c:v>Coronary artery disease</c:v>
                </c:pt>
                <c:pt idx="7">
                  <c:v>COPD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23.97</c:v>
                </c:pt>
                <c:pt idx="1">
                  <c:v>11.06</c:v>
                </c:pt>
                <c:pt idx="2">
                  <c:v>9.98</c:v>
                </c:pt>
                <c:pt idx="3">
                  <c:v>9.45</c:v>
                </c:pt>
                <c:pt idx="4">
                  <c:v>8.17</c:v>
                </c:pt>
                <c:pt idx="5">
                  <c:v>6.65</c:v>
                </c:pt>
                <c:pt idx="6">
                  <c:v>6.08</c:v>
                </c:pt>
                <c:pt idx="7">
                  <c:v>5.37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A5F6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FFFFFF"/>
                </a:solidFill>
              </a:rPr>
              <a:t>Admitted to hospital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Admitted to hospital (%)</c:v>
                </c:pt>
              </c:strCache>
            </c:strRef>
          </c:tx>
          <c:spPr>
            <a:solidFill>
              <a:srgbClr val="CADCFC"/>
            </a:solidFill>
          </c:spPr>
          <c:dLbls>
            <c:numFmt formatCode="0&quot;%&quot;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Immediate</c:v>
                </c:pt>
                <c:pt idx="1">
                  <c:v>2 Emergent</c:v>
                </c:pt>
                <c:pt idx="2">
                  <c:v>3 Urgent</c:v>
                </c:pt>
                <c:pt idx="3">
                  <c:v>4 Semi-urgent</c:v>
                </c:pt>
                <c:pt idx="4">
                  <c:v>5 Nonurgent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33.34</c:v>
                </c:pt>
                <c:pt idx="1">
                  <c:v>25.03</c:v>
                </c:pt>
                <c:pt idx="2">
                  <c:v>11.4</c:v>
                </c:pt>
                <c:pt idx="3">
                  <c:v>2.28</c:v>
                </c:pt>
                <c:pt idx="4">
                  <c:v>2.53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CADC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FFFFFF"/>
                </a:solidFill>
              </a:rPr>
              <a:t>Median wait to see a provider (min)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wait to see a provider (min)</c:v>
                </c:pt>
              </c:strCache>
            </c:strRef>
          </c:tx>
          <c:spPr>
            <a:solidFill>
              <a:srgbClr val="EB6834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 b="1">
                    <a:solidFill>
                      <a:srgbClr val="FFFFFF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1 Immediate</c:v>
                </c:pt>
                <c:pt idx="1">
                  <c:v>2 Emergent</c:v>
                </c:pt>
                <c:pt idx="2">
                  <c:v>3 Urgent</c:v>
                </c:pt>
                <c:pt idx="3">
                  <c:v>4 Semi-urgent</c:v>
                </c:pt>
                <c:pt idx="4">
                  <c:v>5 Nonurgent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18</c:v>
                </c:pt>
                <c:pt idx="2">
                  <c:v>20</c:v>
                </c:pt>
                <c:pt idx="3">
                  <c:v>19</c:v>
                </c:pt>
                <c:pt idx="4">
                  <c:v>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900">
          <a:solidFill>
            <a:srgbClr val="CADCFC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one sampled ED visit, not a patient. The main data-quality trap: NCHS stores missing answers as negative codes, so df.isna() misses them. We verified our reading by reproducing NCHS's published nonresponse rates (LOV 7.0%, PAYTYPER 8.7%, IMMEDR 22.2%). Missingness is not random: wait time is missing 38-45% of the time when there was no triage, vs ~10%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Weekdays are compared as average visits per day because 2015 had 53 Thursdays. 69% of arrivals come between 10am and 10pm; the single busiest slot is Monday 9-10am (~28,500 visits nationally). By Little's law, ~55,700 patients are in U.S. EDs at any moment, about 12 per 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PAYTYPER uses an NCHS hierarchy to pick one primary payer per visit; our shares match the codebook exactly (Medicaid 31.15% of all visits). Self-pay peaks at 17.5% among 25-44-year-olds, the main bad-debt exposure.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Chronic burden rises from 13% of under-15 visits to 90% at 75+. Imaging rises from 29% (children) to 70% (75+). Medications rise from 2.0 per visit with no chronic condition to 3.8 with three or more. Totals match NCHS: 340.6M weighted drug mentions.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Admission falls from 33% for immediate patients to 2-3% for semi- and nonurgent, but median waits are 14 minutes for immediate and 18-20 for every other level. Correlations are associations, not causal effects; age drives chronic burden, payer and treatment intensity together. Limitations: point estimates without survey-design standard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MGT 634 · HOMEWORK 1 · NHAMCS EMERGENCY DEPARTMENT DATA, 2015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137 million ED visits: what a national sample tells hospital managers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Group: Michal Kozuchowski, [add teammate names]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22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95351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21,061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3016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sampled visits (rows) from 248 EDs, 1,031 variables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78892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22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95351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136.9M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63016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U.S. ED visits once weighted by PATWT, exactly the NCHS total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8892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22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95351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-9 / -8 / -7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3016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blank / unknown / N/A codes, hidden missing data we removed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2788920"/>
            <a:ext cx="2606040" cy="1600200"/>
          </a:xfrm>
          <a:prstGeom prst="roundRect">
            <a:avLst>
              <a:gd name="adj" fmla="val 8000"/>
            </a:avLst>
          </a:prstGeom>
          <a:solidFill>
            <a:srgbClr val="22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295351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20 / 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630168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checks against published NCHS figures pass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110642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Approach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Load → recode missing-value codes → weight every estimate → cap extreme waits and stays at the 99.5th percentile → check each result against the codebook. One commented notebook, one cell per question, re-run cleanly end to end.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6324F"/>
                </a:solidFill>
                <a:latin typeface="Cambria"/>
              </a:rPr>
              <a:t>Demand is predictable: 10am-8pm plateau, Monday peak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F66"/>
                </a:solidFill>
                <a:latin typeface="Calibri"/>
              </a:rPr>
              <a:t>Weighted share of daily ED arrivals by hour of arrival, 2015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75895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6002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764792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324F"/>
                </a:solidFill>
                <a:latin typeface="Cambria"/>
              </a:rPr>
              <a:t>4.7x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441448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arrivals in the 6pm peak hour vs the 5am trough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004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3364992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324F"/>
                </a:solidFill>
                <a:latin typeface="Cambria"/>
              </a:rPr>
              <a:t>+25%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041648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Monday (432k visits/day) vs Sunday (346k), average per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80060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493776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6324F"/>
                </a:solidFill>
                <a:latin typeface="Calibri"/>
              </a:rPr>
              <a:t>Staffing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Stagger shifts through the 7-10am ramp, keep full coverage to ~midnight (median stay 2.6 h), and roster heavier on Mondays.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6324F"/>
                </a:solidFill>
                <a:latin typeface="Cambria"/>
              </a:rPr>
              <a:t>Public payers fund most ED visits, and age decides who pays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A5F66"/>
                </a:solidFill>
                <a:latin typeface="Calibri"/>
              </a:rPr>
              <a:t>Primary expected payer by age group, weighted % of visits with a known payer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554480"/>
          <a:ext cx="758952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0" y="16002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764792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324F"/>
                </a:solidFill>
                <a:latin typeface="Cambria"/>
              </a:rPr>
              <a:t>54.8%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2441448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of known-payer visits paid by Medicaid (34.9%) or Medicare (19.9%)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20040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3364992"/>
            <a:ext cx="2834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B6834"/>
                </a:solidFill>
                <a:latin typeface="Cambria"/>
              </a:rPr>
              <a:t>11.0%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041648"/>
            <a:ext cx="2834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self-pay or charity care; EDs must treat regardless (EMTALA)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4800600"/>
            <a:ext cx="3291840" cy="150876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4937760"/>
            <a:ext cx="28346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6324F"/>
                </a:solidFill>
                <a:latin typeface="Calibri"/>
              </a:rPr>
              <a:t>Margin pressure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Private insurance (30.9%) cross-subsidizes. 10.8% of visits have no recorded payer, a revenue-cycle gap.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16324F"/>
                </a:solidFill>
                <a:latin typeface="Cambria"/>
              </a:rPr>
              <a:t>EDs treat complex patients: chronic disease and injuries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990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324F"/>
                </a:solidFill>
                <a:latin typeface="Cambria"/>
              </a:rPr>
              <a:t>47.6%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visits with 1+ chronic condition (90% at 75+)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3444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3990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324F"/>
                </a:solidFill>
                <a:latin typeface="Cambria"/>
              </a:rPr>
              <a:t>33.1%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07568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injury, overdose or adverse-effect visits (7.3% intentional)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990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6324F"/>
                </a:solidFill>
                <a:latin typeface="Cambria"/>
              </a:rPr>
              <a:t>47.0%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7568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visits with imaging; 42.4% with a blood test (CBC in 85%)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123444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399032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EB6834"/>
                </a:solidFill>
                <a:latin typeface="Cambria"/>
              </a:rPr>
              <a:t>37.2%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075688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5A5F66"/>
                </a:solidFill>
                <a:latin typeface="Calibri"/>
              </a:rPr>
              <a:t>visits with 3+ medications (mean 2.49, median 2)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457200" y="2971800"/>
          <a:ext cx="758952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8412480" y="3108960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3291840"/>
            <a:ext cx="28346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6324F"/>
                </a:solidFill>
                <a:latin typeface="Calibri"/>
              </a:rPr>
              <a:t>What it means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EDs act as a front line for chronic disease: care coordination and follow-up referrals could move avoidable visits to cheaper settings.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Diabetes is split across three checkboxes; combined it is the #2 condition, not #9.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1A1A1A"/>
                </a:solidFill>
                <a:latin typeface="Calibri"/>
              </a:rPr>
              <a:t>Intensity follows complexity: imaging rises from 29% of child visits to 70% at 75+, and medications from 2.0 per visit (no chronic condition) to 3.8 (three or more).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Triage sorts outcomes sharply, but not waiting times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CADCFC"/>
                </a:solidFill>
                <a:latin typeface="Calibri"/>
              </a:rPr>
              <a:t>Weighted, by triage level (1 = immediate ... 5 = nonurgent)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22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691640"/>
          <a:ext cx="34747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297680" y="1600200"/>
            <a:ext cx="3657600" cy="3246120"/>
          </a:xfrm>
          <a:prstGeom prst="roundRect">
            <a:avLst>
              <a:gd name="adj" fmla="val 8000"/>
            </a:avLst>
          </a:prstGeom>
          <a:solidFill>
            <a:srgbClr val="224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389120" y="1691640"/>
          <a:ext cx="3474720" cy="3063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0" y="1600200"/>
            <a:ext cx="34747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Correlations (weighted r)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# blood tests - admitted  0.37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# chronic conditions - admitted  0.33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Length of visit - # blood tests  0.31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Age - Medicare  0.61 (eligibility at 65)</a:t>
            </a:r>
          </a:p>
          <a:p>
            <a:pPr algn="l">
              <a:spcAft>
                <a:spcPts val="600"/>
              </a:spcAft>
            </a:pPr>
            <a:r>
              <a:rPr sz="1250" b="0" i="0">
                <a:solidFill>
                  <a:srgbClr val="CADCFC"/>
                </a:solidFill>
                <a:latin typeface="Calibri"/>
              </a:rPr>
              <a:t>Deaths are rare (28 in ED, 7 DOA in sample), so we compare rates: 6.4% of immediate patients die in the 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Takeaways for hospital managers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CADCFC"/>
                </a:solidFill>
                <a:latin typeface="Calibri"/>
              </a:rPr>
              <a:t>Staff to the plateau and Mondays  ·  Fast-track levels 4-5 so emergent patients stop waiting as long as nonurgent ones  ·  Protect margins through Medicaid contracting and payer capture  ·  Invest in chronic-care coordination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